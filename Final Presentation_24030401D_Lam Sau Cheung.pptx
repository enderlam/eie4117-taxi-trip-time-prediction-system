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8288000" cy="10287000"/>
  <p:notesSz cx="6858000" cy="9144000"/>
  <p:embeddedFontLst>
    <p:embeddedFont>
      <p:font typeface="Bricolage Grotesque" panose="020B0604020202020204" charset="0"/>
      <p:regular r:id="rId23"/>
    </p:embeddedFont>
    <p:embeddedFont>
      <p:font typeface="Bricolage Grotesque Bold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Bold" panose="00000800000000000000" pitchFamily="2" charset="0"/>
      <p:regular r:id="rId30"/>
      <p:bold r:id="rId31"/>
    </p:embeddedFont>
    <p:embeddedFont>
      <p:font typeface="Poppins Italic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745D4-2F85-E9F4-1873-B1B266FA94FC}" v="49" dt="2026-04-09T12:25:52.841"/>
    <p1510:client id="{3D0A2466-20E8-8F35-CF54-FB98FF7ACE56}" v="568" dt="2026-04-09T16:03:24.573"/>
    <p1510:client id="{5F67E302-F6DB-2E2B-8809-6C9CA51380CE}" v="1070" dt="2026-04-10T09:34:37.565"/>
    <p1510:client id="{743762D4-5271-BE1E-C7EC-305B9772BD11}" v="12" dt="2026-04-09T11:40:05.190"/>
    <p1510:client id="{EEA2B5F9-45A5-2846-98D9-F8BD01A5F843}" v="5" dt="2026-04-10T09:55:56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, Sau Cheung [Student]" userId="S::24030401d@connect.polyu.hk::dc9001fb-7ad3-4503-998c-10dc9fe9a7bf" providerId="AD" clId="Web-{3D0A2466-20E8-8F35-CF54-FB98FF7ACE56}"/>
    <pc:docChg chg="modSld">
      <pc:chgData name="LAM, Sau Cheung [Student]" userId="S::24030401d@connect.polyu.hk::dc9001fb-7ad3-4503-998c-10dc9fe9a7bf" providerId="AD" clId="Web-{3D0A2466-20E8-8F35-CF54-FB98FF7ACE56}" dt="2026-04-09T16:03:24.573" v="296" actId="20577"/>
      <pc:docMkLst>
        <pc:docMk/>
      </pc:docMkLst>
      <pc:sldChg chg="modSp">
        <pc:chgData name="LAM, Sau Cheung [Student]" userId="S::24030401d@connect.polyu.hk::dc9001fb-7ad3-4503-998c-10dc9fe9a7bf" providerId="AD" clId="Web-{3D0A2466-20E8-8F35-CF54-FB98FF7ACE56}" dt="2026-04-09T16:03:24.573" v="296" actId="20577"/>
        <pc:sldMkLst>
          <pc:docMk/>
          <pc:sldMk cId="0" sldId="262"/>
        </pc:sldMkLst>
        <pc:spChg chg="mod">
          <ac:chgData name="LAM, Sau Cheung [Student]" userId="S::24030401d@connect.polyu.hk::dc9001fb-7ad3-4503-998c-10dc9fe9a7bf" providerId="AD" clId="Web-{3D0A2466-20E8-8F35-CF54-FB98FF7ACE56}" dt="2026-04-09T16:03:24.573" v="296" actId="20577"/>
          <ac:spMkLst>
            <pc:docMk/>
            <pc:sldMk cId="0" sldId="262"/>
            <ac:spMk id="16" creationId="{00000000-0000-0000-0000-000000000000}"/>
          </ac:spMkLst>
        </pc:spChg>
      </pc:sldChg>
      <pc:sldChg chg="addSp delSp modSp">
        <pc:chgData name="LAM, Sau Cheung [Student]" userId="S::24030401d@connect.polyu.hk::dc9001fb-7ad3-4503-998c-10dc9fe9a7bf" providerId="AD" clId="Web-{3D0A2466-20E8-8F35-CF54-FB98FF7ACE56}" dt="2026-04-09T12:49:43.942" v="290" actId="20577"/>
        <pc:sldMkLst>
          <pc:docMk/>
          <pc:sldMk cId="4082905900" sldId="275"/>
        </pc:sldMkLst>
        <pc:spChg chg="mod">
          <ac:chgData name="LAM, Sau Cheung [Student]" userId="S::24030401d@connect.polyu.hk::dc9001fb-7ad3-4503-998c-10dc9fe9a7bf" providerId="AD" clId="Web-{3D0A2466-20E8-8F35-CF54-FB98FF7ACE56}" dt="2026-04-09T12:49:43.942" v="290" actId="20577"/>
          <ac:spMkLst>
            <pc:docMk/>
            <pc:sldMk cId="4082905900" sldId="275"/>
            <ac:spMk id="16" creationId="{7AE37F33-C415-8373-5412-D6E3582BB256}"/>
          </ac:spMkLst>
        </pc:spChg>
        <pc:picChg chg="add del mod">
          <ac:chgData name="LAM, Sau Cheung [Student]" userId="S::24030401d@connect.polyu.hk::dc9001fb-7ad3-4503-998c-10dc9fe9a7bf" providerId="AD" clId="Web-{3D0A2466-20E8-8F35-CF54-FB98FF7ACE56}" dt="2026-04-09T12:44:32.574" v="282"/>
          <ac:picMkLst>
            <pc:docMk/>
            <pc:sldMk cId="4082905900" sldId="275"/>
            <ac:picMk id="10" creationId="{517E9E19-6E50-6B8C-BA9F-F1EE7E520EC8}"/>
          </ac:picMkLst>
        </pc:picChg>
      </pc:sldChg>
    </pc:docChg>
  </pc:docChgLst>
  <pc:docChgLst>
    <pc:chgData name="LAM, Sau Cheung [Student]" userId="S::24030401d@connect.polyu.hk::dc9001fb-7ad3-4503-998c-10dc9fe9a7bf" providerId="AD" clId="Web-{743762D4-5271-BE1E-C7EC-305B9772BD11}"/>
    <pc:docChg chg="modSld">
      <pc:chgData name="LAM, Sau Cheung [Student]" userId="S::24030401d@connect.polyu.hk::dc9001fb-7ad3-4503-998c-10dc9fe9a7bf" providerId="AD" clId="Web-{743762D4-5271-BE1E-C7EC-305B9772BD11}" dt="2026-04-09T11:40:04.721" v="9" actId="1076"/>
      <pc:docMkLst>
        <pc:docMk/>
      </pc:docMkLst>
      <pc:sldChg chg="addSp delSp modSp">
        <pc:chgData name="LAM, Sau Cheung [Student]" userId="S::24030401d@connect.polyu.hk::dc9001fb-7ad3-4503-998c-10dc9fe9a7bf" providerId="AD" clId="Web-{743762D4-5271-BE1E-C7EC-305B9772BD11}" dt="2026-04-09T11:39:22.689" v="6" actId="1076"/>
        <pc:sldMkLst>
          <pc:docMk/>
          <pc:sldMk cId="0" sldId="262"/>
        </pc:sldMkLst>
        <pc:spChg chg="ord">
          <ac:chgData name="LAM, Sau Cheung [Student]" userId="S::24030401d@connect.polyu.hk::dc9001fb-7ad3-4503-998c-10dc9fe9a7bf" providerId="AD" clId="Web-{743762D4-5271-BE1E-C7EC-305B9772BD11}" dt="2026-04-09T11:39:08.110" v="5"/>
          <ac:spMkLst>
            <pc:docMk/>
            <pc:sldMk cId="0" sldId="262"/>
            <ac:spMk id="4" creationId="{00000000-0000-0000-0000-000000000000}"/>
          </ac:spMkLst>
        </pc:spChg>
        <pc:graphicFrameChg chg="del mod modGraphic">
          <ac:chgData name="LAM, Sau Cheung [Student]" userId="S::24030401d@connect.polyu.hk::dc9001fb-7ad3-4503-998c-10dc9fe9a7bf" providerId="AD" clId="Web-{743762D4-5271-BE1E-C7EC-305B9772BD11}" dt="2026-04-09T11:38:47.532" v="2"/>
          <ac:graphicFrameMkLst>
            <pc:docMk/>
            <pc:sldMk cId="0" sldId="262"/>
            <ac:graphicFrameMk id="17" creationId="{00000000-0000-0000-0000-000000000000}"/>
          </ac:graphicFrameMkLst>
        </pc:graphicFrameChg>
        <pc:picChg chg="add mod">
          <ac:chgData name="LAM, Sau Cheung [Student]" userId="S::24030401d@connect.polyu.hk::dc9001fb-7ad3-4503-998c-10dc9fe9a7bf" providerId="AD" clId="Web-{743762D4-5271-BE1E-C7EC-305B9772BD11}" dt="2026-04-09T11:39:22.689" v="6" actId="1076"/>
          <ac:picMkLst>
            <pc:docMk/>
            <pc:sldMk cId="0" sldId="262"/>
            <ac:picMk id="18" creationId="{92CC62B4-23AF-BE1E-EF67-E322D6D5E107}"/>
          </ac:picMkLst>
        </pc:picChg>
      </pc:sldChg>
      <pc:sldChg chg="addSp delSp modSp">
        <pc:chgData name="LAM, Sau Cheung [Student]" userId="S::24030401d@connect.polyu.hk::dc9001fb-7ad3-4503-998c-10dc9fe9a7bf" providerId="AD" clId="Web-{743762D4-5271-BE1E-C7EC-305B9772BD11}" dt="2026-04-09T11:40:04.721" v="9" actId="1076"/>
        <pc:sldMkLst>
          <pc:docMk/>
          <pc:sldMk cId="0" sldId="264"/>
        </pc:sldMkLst>
        <pc:graphicFrameChg chg="del">
          <ac:chgData name="LAM, Sau Cheung [Student]" userId="S::24030401d@connect.polyu.hk::dc9001fb-7ad3-4503-998c-10dc9fe9a7bf" providerId="AD" clId="Web-{743762D4-5271-BE1E-C7EC-305B9772BD11}" dt="2026-04-09T11:39:28.501" v="7"/>
          <ac:graphicFrameMkLst>
            <pc:docMk/>
            <pc:sldMk cId="0" sldId="264"/>
            <ac:graphicFrameMk id="5" creationId="{00000000-0000-0000-0000-000000000000}"/>
          </ac:graphicFrameMkLst>
        </pc:graphicFrameChg>
        <pc:picChg chg="add mod">
          <ac:chgData name="LAM, Sau Cheung [Student]" userId="S::24030401d@connect.polyu.hk::dc9001fb-7ad3-4503-998c-10dc9fe9a7bf" providerId="AD" clId="Web-{743762D4-5271-BE1E-C7EC-305B9772BD11}" dt="2026-04-09T11:40:04.721" v="9" actId="1076"/>
          <ac:picMkLst>
            <pc:docMk/>
            <pc:sldMk cId="0" sldId="264"/>
            <ac:picMk id="17" creationId="{B239EB45-F712-5C4D-BDB2-C33D54D024F9}"/>
          </ac:picMkLst>
        </pc:picChg>
      </pc:sldChg>
    </pc:docChg>
  </pc:docChgLst>
  <pc:docChgLst>
    <pc:chgData name="LAM, Sau Cheung [Student]" userId="S::24030401d@connect.polyu.hk::dc9001fb-7ad3-4503-998c-10dc9fe9a7bf" providerId="AD" clId="Web-{EEA2B5F9-45A5-2846-98D9-F8BD01A5F843}"/>
    <pc:docChg chg="modSld">
      <pc:chgData name="LAM, Sau Cheung [Student]" userId="S::24030401d@connect.polyu.hk::dc9001fb-7ad3-4503-998c-10dc9fe9a7bf" providerId="AD" clId="Web-{EEA2B5F9-45A5-2846-98D9-F8BD01A5F843}" dt="2026-04-10T09:55:56.016" v="1" actId="20577"/>
      <pc:docMkLst>
        <pc:docMk/>
      </pc:docMkLst>
      <pc:sldChg chg="modSp">
        <pc:chgData name="LAM, Sau Cheung [Student]" userId="S::24030401d@connect.polyu.hk::dc9001fb-7ad3-4503-998c-10dc9fe9a7bf" providerId="AD" clId="Web-{EEA2B5F9-45A5-2846-98D9-F8BD01A5F843}" dt="2026-04-10T09:55:56.016" v="1" actId="20577"/>
        <pc:sldMkLst>
          <pc:docMk/>
          <pc:sldMk cId="0" sldId="260"/>
        </pc:sldMkLst>
        <pc:spChg chg="mod">
          <ac:chgData name="LAM, Sau Cheung [Student]" userId="S::24030401d@connect.polyu.hk::dc9001fb-7ad3-4503-998c-10dc9fe9a7bf" providerId="AD" clId="Web-{EEA2B5F9-45A5-2846-98D9-F8BD01A5F843}" dt="2026-04-10T09:55:56.016" v="1" actId="20577"/>
          <ac:spMkLst>
            <pc:docMk/>
            <pc:sldMk cId="0" sldId="260"/>
            <ac:spMk id="15" creationId="{00000000-0000-0000-0000-000000000000}"/>
          </ac:spMkLst>
        </pc:spChg>
      </pc:sldChg>
    </pc:docChg>
  </pc:docChgLst>
  <pc:docChgLst>
    <pc:chgData name="LAM, Sau Cheung [Student]" userId="S::24030401d@connect.polyu.hk::dc9001fb-7ad3-4503-998c-10dc9fe9a7bf" providerId="AD" clId="Web-{5F67E302-F6DB-2E2B-8809-6C9CA51380CE}"/>
    <pc:docChg chg="addSld modSld">
      <pc:chgData name="LAM, Sau Cheung [Student]" userId="S::24030401d@connect.polyu.hk::dc9001fb-7ad3-4503-998c-10dc9fe9a7bf" providerId="AD" clId="Web-{5F67E302-F6DB-2E2B-8809-6C9CA51380CE}" dt="2026-04-10T09:34:37.565" v="899" actId="20577"/>
      <pc:docMkLst>
        <pc:docMk/>
      </pc:docMkLst>
      <pc:sldChg chg="modSp">
        <pc:chgData name="LAM, Sau Cheung [Student]" userId="S::24030401d@connect.polyu.hk::dc9001fb-7ad3-4503-998c-10dc9fe9a7bf" providerId="AD" clId="Web-{5F67E302-F6DB-2E2B-8809-6C9CA51380CE}" dt="2026-04-10T08:35:45.177" v="860" actId="20577"/>
        <pc:sldMkLst>
          <pc:docMk/>
          <pc:sldMk cId="0" sldId="263"/>
        </pc:sldMkLst>
        <pc:spChg chg="mod">
          <ac:chgData name="LAM, Sau Cheung [Student]" userId="S::24030401d@connect.polyu.hk::dc9001fb-7ad3-4503-998c-10dc9fe9a7bf" providerId="AD" clId="Web-{5F67E302-F6DB-2E2B-8809-6C9CA51380CE}" dt="2026-04-10T08:35:45.177" v="860" actId="20577"/>
          <ac:spMkLst>
            <pc:docMk/>
            <pc:sldMk cId="0" sldId="263"/>
            <ac:spMk id="19" creationId="{00000000-0000-0000-0000-000000000000}"/>
          </ac:spMkLst>
        </pc:spChg>
      </pc:sldChg>
      <pc:sldChg chg="delSp">
        <pc:chgData name="LAM, Sau Cheung [Student]" userId="S::24030401d@connect.polyu.hk::dc9001fb-7ad3-4503-998c-10dc9fe9a7bf" providerId="AD" clId="Web-{5F67E302-F6DB-2E2B-8809-6C9CA51380CE}" dt="2026-04-10T08:50:37.507" v="861"/>
        <pc:sldMkLst>
          <pc:docMk/>
          <pc:sldMk cId="0" sldId="271"/>
        </pc:sldMkLst>
        <pc:spChg chg="del">
          <ac:chgData name="LAM, Sau Cheung [Student]" userId="S::24030401d@connect.polyu.hk::dc9001fb-7ad3-4503-998c-10dc9fe9a7bf" providerId="AD" clId="Web-{5F67E302-F6DB-2E2B-8809-6C9CA51380CE}" dt="2026-04-10T08:50:37.507" v="861"/>
          <ac:spMkLst>
            <pc:docMk/>
            <pc:sldMk cId="0" sldId="271"/>
            <ac:spMk id="6" creationId="{00000000-0000-0000-0000-000000000000}"/>
          </ac:spMkLst>
        </pc:spChg>
      </pc:sldChg>
      <pc:sldChg chg="modSp">
        <pc:chgData name="LAM, Sau Cheung [Student]" userId="S::24030401d@connect.polyu.hk::dc9001fb-7ad3-4503-998c-10dc9fe9a7bf" providerId="AD" clId="Web-{5F67E302-F6DB-2E2B-8809-6C9CA51380CE}" dt="2026-04-10T07:46:08.361" v="0" actId="20577"/>
        <pc:sldMkLst>
          <pc:docMk/>
          <pc:sldMk cId="0" sldId="272"/>
        </pc:sldMkLst>
        <pc:spChg chg="mod">
          <ac:chgData name="LAM, Sau Cheung [Student]" userId="S::24030401d@connect.polyu.hk::dc9001fb-7ad3-4503-998c-10dc9fe9a7bf" providerId="AD" clId="Web-{5F67E302-F6DB-2E2B-8809-6C9CA51380CE}" dt="2026-04-10T07:46:08.361" v="0" actId="20577"/>
          <ac:spMkLst>
            <pc:docMk/>
            <pc:sldMk cId="0" sldId="272"/>
            <ac:spMk id="16" creationId="{00000000-0000-0000-0000-000000000000}"/>
          </ac:spMkLst>
        </pc:spChg>
      </pc:sldChg>
      <pc:sldChg chg="addSp delSp modSp add replId">
        <pc:chgData name="LAM, Sau Cheung [Student]" userId="S::24030401d@connect.polyu.hk::dc9001fb-7ad3-4503-998c-10dc9fe9a7bf" providerId="AD" clId="Web-{5F67E302-F6DB-2E2B-8809-6C9CA51380CE}" dt="2026-04-10T09:34:37.565" v="899" actId="20577"/>
        <pc:sldMkLst>
          <pc:docMk/>
          <pc:sldMk cId="3018038224" sldId="276"/>
        </pc:sldMkLst>
        <pc:spChg chg="mod">
          <ac:chgData name="LAM, Sau Cheung [Student]" userId="S::24030401d@connect.polyu.hk::dc9001fb-7ad3-4503-998c-10dc9fe9a7bf" providerId="AD" clId="Web-{5F67E302-F6DB-2E2B-8809-6C9CA51380CE}" dt="2026-04-10T07:52:22.642" v="11" actId="20577"/>
          <ac:spMkLst>
            <pc:docMk/>
            <pc:sldMk cId="3018038224" sldId="276"/>
            <ac:spMk id="11" creationId="{995B8F04-0551-2490-199B-2D741DAF6FEB}"/>
          </ac:spMkLst>
        </pc:spChg>
        <pc:spChg chg="mod">
          <ac:chgData name="LAM, Sau Cheung [Student]" userId="S::24030401d@connect.polyu.hk::dc9001fb-7ad3-4503-998c-10dc9fe9a7bf" providerId="AD" clId="Web-{5F67E302-F6DB-2E2B-8809-6C9CA51380CE}" dt="2026-04-10T09:34:37.565" v="899" actId="20577"/>
          <ac:spMkLst>
            <pc:docMk/>
            <pc:sldMk cId="3018038224" sldId="276"/>
            <ac:spMk id="16" creationId="{FBD4A5D2-067A-6C82-F6D3-A54EE8D4EF60}"/>
          </ac:spMkLst>
        </pc:spChg>
        <pc:spChg chg="add del mod">
          <ac:chgData name="LAM, Sau Cheung [Student]" userId="S::24030401d@connect.polyu.hk::dc9001fb-7ad3-4503-998c-10dc9fe9a7bf" providerId="AD" clId="Web-{5F67E302-F6DB-2E2B-8809-6C9CA51380CE}" dt="2026-04-10T07:59:46.996" v="140"/>
          <ac:spMkLst>
            <pc:docMk/>
            <pc:sldMk cId="3018038224" sldId="276"/>
            <ac:spMk id="18" creationId="{47BF2C1E-756A-4C13-00A3-7C33F2C71D23}"/>
          </ac:spMkLst>
        </pc:spChg>
        <pc:graphicFrameChg chg="add del modGraphic">
          <ac:chgData name="LAM, Sau Cheung [Student]" userId="S::24030401d@connect.polyu.hk::dc9001fb-7ad3-4503-998c-10dc9fe9a7bf" providerId="AD" clId="Web-{5F67E302-F6DB-2E2B-8809-6C9CA51380CE}" dt="2026-04-10T08:00:10.215" v="144"/>
          <ac:graphicFrameMkLst>
            <pc:docMk/>
            <pc:sldMk cId="3018038224" sldId="276"/>
            <ac:graphicFrameMk id="20" creationId="{2CE1C592-2C99-B308-07F5-F9296C2FACF8}"/>
          </ac:graphicFrameMkLst>
        </pc:graphicFrameChg>
        <pc:graphicFrameChg chg="add del mod">
          <ac:chgData name="LAM, Sau Cheung [Student]" userId="S::24030401d@connect.polyu.hk::dc9001fb-7ad3-4503-998c-10dc9fe9a7bf" providerId="AD" clId="Web-{5F67E302-F6DB-2E2B-8809-6C9CA51380CE}" dt="2026-04-10T08:00:20.980" v="148"/>
          <ac:graphicFrameMkLst>
            <pc:docMk/>
            <pc:sldMk cId="3018038224" sldId="276"/>
            <ac:graphicFrameMk id="21" creationId="{986D192B-11AD-AAD4-9283-2DB4DE850BD8}"/>
          </ac:graphicFrameMkLst>
        </pc:graphicFrameChg>
        <pc:graphicFrameChg chg="add mod modGraphic">
          <ac:chgData name="LAM, Sau Cheung [Student]" userId="S::24030401d@connect.polyu.hk::dc9001fb-7ad3-4503-998c-10dc9fe9a7bf" providerId="AD" clId="Web-{5F67E302-F6DB-2E2B-8809-6C9CA51380CE}" dt="2026-04-10T08:13:53.904" v="844" actId="1076"/>
          <ac:graphicFrameMkLst>
            <pc:docMk/>
            <pc:sldMk cId="3018038224" sldId="276"/>
            <ac:graphicFrameMk id="22" creationId="{ED97CE09-F1CE-6873-D389-A0D789893C22}"/>
          </ac:graphicFrameMkLst>
        </pc:graphicFrameChg>
        <pc:picChg chg="add mod">
          <ac:chgData name="LAM, Sau Cheung [Student]" userId="S::24030401d@connect.polyu.hk::dc9001fb-7ad3-4503-998c-10dc9fe9a7bf" providerId="AD" clId="Web-{5F67E302-F6DB-2E2B-8809-6C9CA51380CE}" dt="2026-04-10T07:51:50.625" v="7" actId="1076"/>
          <ac:picMkLst>
            <pc:docMk/>
            <pc:sldMk cId="3018038224" sldId="276"/>
            <ac:picMk id="10" creationId="{A3696455-E436-AA54-91DD-960EDBC58042}"/>
          </ac:picMkLst>
        </pc:picChg>
        <pc:picChg chg="del">
          <ac:chgData name="LAM, Sau Cheung [Student]" userId="S::24030401d@connect.polyu.hk::dc9001fb-7ad3-4503-998c-10dc9fe9a7bf" providerId="AD" clId="Web-{5F67E302-F6DB-2E2B-8809-6C9CA51380CE}" dt="2026-04-10T07:51:45.484" v="5"/>
          <ac:picMkLst>
            <pc:docMk/>
            <pc:sldMk cId="3018038224" sldId="276"/>
            <ac:picMk id="17" creationId="{E3FA4635-8BB3-6D73-E47F-4E84A7DC42FF}"/>
          </ac:picMkLst>
        </pc:picChg>
        <pc:picChg chg="del mod">
          <ac:chgData name="LAM, Sau Cheung [Student]" userId="S::24030401d@connect.polyu.hk::dc9001fb-7ad3-4503-998c-10dc9fe9a7bf" providerId="AD" clId="Web-{5F67E302-F6DB-2E2B-8809-6C9CA51380CE}" dt="2026-04-10T07:59:41.464" v="137"/>
          <ac:picMkLst>
            <pc:docMk/>
            <pc:sldMk cId="3018038224" sldId="276"/>
            <ac:picMk id="19" creationId="{781A811C-419A-1F5B-B3A7-F932E4D4FFE2}"/>
          </ac:picMkLst>
        </pc:picChg>
      </pc:sldChg>
    </pc:docChg>
  </pc:docChgLst>
  <pc:docChgLst>
    <pc:chgData name="LAM, Sau Cheung [Student]" userId="S::24030401d@connect.polyu.hk::dc9001fb-7ad3-4503-998c-10dc9fe9a7bf" providerId="AD" clId="Web-{0FA745D4-2F85-E9F4-1873-B1B266FA94FC}"/>
    <pc:docChg chg="addSld modSld">
      <pc:chgData name="LAM, Sau Cheung [Student]" userId="S::24030401d@connect.polyu.hk::dc9001fb-7ad3-4503-998c-10dc9fe9a7bf" providerId="AD" clId="Web-{0FA745D4-2F85-E9F4-1873-B1B266FA94FC}" dt="2026-04-09T12:25:52.841" v="29" actId="1076"/>
      <pc:docMkLst>
        <pc:docMk/>
      </pc:docMkLst>
      <pc:sldChg chg="addSp delSp modSp add replId">
        <pc:chgData name="LAM, Sau Cheung [Student]" userId="S::24030401d@connect.polyu.hk::dc9001fb-7ad3-4503-998c-10dc9fe9a7bf" providerId="AD" clId="Web-{0FA745D4-2F85-E9F4-1873-B1B266FA94FC}" dt="2026-04-09T12:25:52.841" v="29" actId="1076"/>
        <pc:sldMkLst>
          <pc:docMk/>
          <pc:sldMk cId="4082905900" sldId="275"/>
        </pc:sldMkLst>
        <pc:spChg chg="del">
          <ac:chgData name="LAM, Sau Cheung [Student]" userId="S::24030401d@connect.polyu.hk::dc9001fb-7ad3-4503-998c-10dc9fe9a7bf" providerId="AD" clId="Web-{0FA745D4-2F85-E9F4-1873-B1B266FA94FC}" dt="2026-04-09T12:24:18.961" v="17"/>
          <ac:spMkLst>
            <pc:docMk/>
            <pc:sldMk cId="4082905900" sldId="275"/>
            <ac:spMk id="10" creationId="{6FA840CD-2D4B-748B-4DD1-7C6F74670128}"/>
          </ac:spMkLst>
        </pc:spChg>
        <pc:spChg chg="mod">
          <ac:chgData name="LAM, Sau Cheung [Student]" userId="S::24030401d@connect.polyu.hk::dc9001fb-7ad3-4503-998c-10dc9fe9a7bf" providerId="AD" clId="Web-{0FA745D4-2F85-E9F4-1873-B1B266FA94FC}" dt="2026-04-09T12:22:49.266" v="15" actId="20577"/>
          <ac:spMkLst>
            <pc:docMk/>
            <pc:sldMk cId="4082905900" sldId="275"/>
            <ac:spMk id="11" creationId="{C04402A3-8857-02D6-6C62-B45BDB491963}"/>
          </ac:spMkLst>
        </pc:spChg>
        <pc:spChg chg="mod">
          <ac:chgData name="LAM, Sau Cheung [Student]" userId="S::24030401d@connect.polyu.hk::dc9001fb-7ad3-4503-998c-10dc9fe9a7bf" providerId="AD" clId="Web-{0FA745D4-2F85-E9F4-1873-B1B266FA94FC}" dt="2026-04-09T12:25:52.841" v="29" actId="1076"/>
          <ac:spMkLst>
            <pc:docMk/>
            <pc:sldMk cId="4082905900" sldId="275"/>
            <ac:spMk id="16" creationId="{7AE37F33-C415-8373-5412-D6E3582BB256}"/>
          </ac:spMkLst>
        </pc:spChg>
        <pc:picChg chg="add mod">
          <ac:chgData name="LAM, Sau Cheung [Student]" userId="S::24030401d@connect.polyu.hk::dc9001fb-7ad3-4503-998c-10dc9fe9a7bf" providerId="AD" clId="Web-{0FA745D4-2F85-E9F4-1873-B1B266FA94FC}" dt="2026-04-09T12:24:27.242" v="20" actId="1076"/>
          <ac:picMkLst>
            <pc:docMk/>
            <pc:sldMk cId="4082905900" sldId="275"/>
            <ac:picMk id="17" creationId="{EEA874D2-E4B5-EA47-AEA6-6F494B7F3A06}"/>
          </ac:picMkLst>
        </pc:picChg>
        <pc:picChg chg="del">
          <ac:chgData name="LAM, Sau Cheung [Student]" userId="S::24030401d@connect.polyu.hk::dc9001fb-7ad3-4503-998c-10dc9fe9a7bf" providerId="AD" clId="Web-{0FA745D4-2F85-E9F4-1873-B1B266FA94FC}" dt="2026-04-09T12:24:18.117" v="16"/>
          <ac:picMkLst>
            <pc:docMk/>
            <pc:sldMk cId="4082905900" sldId="275"/>
            <ac:picMk id="18" creationId="{75AB1057-515F-7D1A-C7E8-281AC44D1C42}"/>
          </ac:picMkLst>
        </pc:picChg>
        <pc:picChg chg="add mod">
          <ac:chgData name="LAM, Sau Cheung [Student]" userId="S::24030401d@connect.polyu.hk::dc9001fb-7ad3-4503-998c-10dc9fe9a7bf" providerId="AD" clId="Web-{0FA745D4-2F85-E9F4-1873-B1B266FA94FC}" dt="2026-04-09T12:25:46.278" v="27" actId="14100"/>
          <ac:picMkLst>
            <pc:docMk/>
            <pc:sldMk cId="4082905900" sldId="275"/>
            <ac:picMk id="19" creationId="{948691FA-BD57-A6FE-F966-BFDF13524F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u1622961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15882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94750" y="-863561"/>
            <a:ext cx="9216325" cy="13479085"/>
          </a:xfrm>
          <a:custGeom>
            <a:avLst/>
            <a:gdLst/>
            <a:ahLst/>
            <a:cxnLst/>
            <a:rect l="l" t="t" r="r" b="b"/>
            <a:pathLst>
              <a:path w="9216325" h="13479085">
                <a:moveTo>
                  <a:pt x="0" y="0"/>
                </a:moveTo>
                <a:lnTo>
                  <a:pt x="9216324" y="0"/>
                </a:lnTo>
                <a:lnTo>
                  <a:pt x="9216324" y="13479086"/>
                </a:lnTo>
                <a:lnTo>
                  <a:pt x="0" y="1347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20099" y="7457921"/>
            <a:ext cx="2772573" cy="1658255"/>
            <a:chOff x="0" y="0"/>
            <a:chExt cx="3696764" cy="221100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408161"/>
              <a:ext cx="134591" cy="134591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06484" y="70368"/>
              <a:ext cx="2749098" cy="358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8"/>
                </a:lnSpc>
              </a:pPr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484" y="47625"/>
              <a:ext cx="3190280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Lam Sau Cheung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6484" y="1346206"/>
              <a:ext cx="2749098" cy="358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8"/>
                </a:lnSpc>
              </a:pPr>
              <a:r>
                <a:rPr lang="en-US" sz="2067" b="1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SUPERVISOR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6484" y="1829710"/>
              <a:ext cx="3190280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Prof YE Qingqing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1683825"/>
              <a:ext cx="134591" cy="13459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320099" y="2975393"/>
            <a:ext cx="5996813" cy="224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24"/>
              </a:lnSpc>
            </a:pPr>
            <a:r>
              <a:rPr lang="en-US" sz="8800" spc="-56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Taxi Trip Time</a:t>
            </a:r>
          </a:p>
          <a:p>
            <a:pPr marL="0" lvl="0" indent="0" algn="l">
              <a:lnSpc>
                <a:spcPts val="8624"/>
              </a:lnSpc>
            </a:pPr>
            <a:r>
              <a:rPr lang="en-US" sz="8800" spc="-56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Prediction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972" y="1968832"/>
            <a:ext cx="1704171" cy="33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7"/>
              </a:lnSpc>
            </a:pPr>
            <a:r>
              <a:rPr lang="en-US" sz="21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0740" y="2310991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99962" y="7733651"/>
            <a:ext cx="2392710" cy="27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9"/>
              </a:lnSpc>
            </a:pPr>
            <a:r>
              <a:rPr lang="en-US" sz="214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24030401D</a:t>
            </a:r>
          </a:p>
        </p:txBody>
      </p:sp>
      <p:sp>
        <p:nvSpPr>
          <p:cNvPr id="21" name="Freeform 21"/>
          <p:cNvSpPr/>
          <p:nvPr/>
        </p:nvSpPr>
        <p:spPr>
          <a:xfrm>
            <a:off x="835072" y="1028700"/>
            <a:ext cx="735971" cy="506528"/>
          </a:xfrm>
          <a:custGeom>
            <a:avLst/>
            <a:gdLst/>
            <a:ahLst/>
            <a:cxnLst/>
            <a:rect l="l" t="t" r="r" b="b"/>
            <a:pathLst>
              <a:path w="735971" h="506528">
                <a:moveTo>
                  <a:pt x="0" y="0"/>
                </a:moveTo>
                <a:lnTo>
                  <a:pt x="735970" y="0"/>
                </a:lnTo>
                <a:lnTo>
                  <a:pt x="735970" y="506528"/>
                </a:lnTo>
                <a:lnTo>
                  <a:pt x="0" y="50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5891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222339"/>
            <a:ext cx="1849954" cy="1625827"/>
            <a:chOff x="0" y="0"/>
            <a:chExt cx="2466605" cy="216776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167769"/>
              <a:chOff x="0" y="0"/>
              <a:chExt cx="787566" cy="69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6921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21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2150"/>
                    </a:lnTo>
                    <a:lnTo>
                      <a:pt x="0" y="6921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30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74999"/>
              <a:ext cx="1828278" cy="92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75"/>
                </a:lnSpc>
              </a:pPr>
              <a:r>
                <a:rPr lang="en-US" sz="5076" spc="-324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907439" y="2323309"/>
            <a:ext cx="10181498" cy="5307106"/>
          </a:xfrm>
          <a:custGeom>
            <a:avLst/>
            <a:gdLst/>
            <a:ahLst/>
            <a:cxnLst/>
            <a:rect l="l" t="t" r="r" b="b"/>
            <a:pathLst>
              <a:path w="10181498" h="5307106">
                <a:moveTo>
                  <a:pt x="0" y="0"/>
                </a:moveTo>
                <a:lnTo>
                  <a:pt x="10181498" y="0"/>
                </a:lnTo>
                <a:lnTo>
                  <a:pt x="10181498" y="5307106"/>
                </a:lnTo>
                <a:lnTo>
                  <a:pt x="0" y="5307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9534" y="784975"/>
            <a:ext cx="10429403" cy="57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2"/>
              </a:lnSpc>
            </a:pPr>
            <a:r>
              <a:rPr lang="en-US" sz="4349" spc="-2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Background &amp; 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18758" y="3552190"/>
            <a:ext cx="6515147" cy="31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1" spc="-6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Complaint Reasons: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Unpredictable trip times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Failure to take the most direct route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Driving behaviour(refusing hire)</a:t>
            </a:r>
          </a:p>
          <a:p>
            <a:pPr algn="l">
              <a:lnSpc>
                <a:spcPts val="3079"/>
              </a:lnSpc>
            </a:pPr>
            <a:endParaRPr lang="en-US" sz="2199" spc="-6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b="1" spc="-6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More than 40% of all those received when considering figures per million passenger journeys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4612" y="8039742"/>
            <a:ext cx="7647569" cy="693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Figure 1. Number of taxi complaints received by the Transport Complaints Unit from 2009 to 2023[1].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27919"/>
            <a:ext cx="1849954" cy="1720247"/>
            <a:chOff x="0" y="0"/>
            <a:chExt cx="2466605" cy="229366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293663"/>
              <a:chOff x="0" y="0"/>
              <a:chExt cx="787566" cy="73234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32347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32347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32347"/>
                    </a:lnTo>
                    <a:lnTo>
                      <a:pt x="0" y="7323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704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38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614"/>
                </a:lnSpc>
              </a:pPr>
              <a:r>
                <a:rPr lang="en-US" sz="5728" spc="-366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3921" y="4926041"/>
            <a:ext cx="3746706" cy="374670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452" y="4926041"/>
            <a:ext cx="3746706" cy="374670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05912" y="4926041"/>
            <a:ext cx="3746706" cy="374670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77373" y="4926041"/>
            <a:ext cx="3746706" cy="374670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345222" y="5908158"/>
            <a:ext cx="1984104" cy="65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1"/>
              </a:lnSpc>
            </a:pPr>
            <a:r>
              <a:rPr lang="en-US" sz="1962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TOTAL COMPLAINTS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24549" y="6836344"/>
            <a:ext cx="2425450" cy="7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</a:pPr>
            <a:r>
              <a:rPr lang="en-US" sz="1626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1,006 complaints filed against taxi services in 2023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15753" y="5908158"/>
            <a:ext cx="1984104" cy="65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1"/>
              </a:lnSpc>
            </a:pPr>
            <a:r>
              <a:rPr lang="en-US" sz="1962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YEAR-ON-YEAR INCREASE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95080" y="6836344"/>
            <a:ext cx="2425450" cy="7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</a:pPr>
            <a:r>
              <a:rPr lang="en-US" sz="162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75% increase in complaints compared to previous year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01910" y="5908158"/>
            <a:ext cx="2354710" cy="65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1"/>
              </a:lnSpc>
            </a:pPr>
            <a:r>
              <a:rPr lang="en-US" sz="1962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OVERCHARGING COMPLAINTS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66540" y="6836344"/>
            <a:ext cx="2425450" cy="7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</a:pPr>
            <a:r>
              <a:rPr lang="en-US" sz="1626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120% increase in overcharging-related complaints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58674" y="5908158"/>
            <a:ext cx="1984104" cy="65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1"/>
              </a:lnSpc>
            </a:pPr>
            <a:r>
              <a:rPr lang="en-US" sz="1962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FARE INCIDENTS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38001" y="6836344"/>
            <a:ext cx="2425450" cy="7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8"/>
              </a:lnSpc>
            </a:pPr>
            <a:r>
              <a:rPr lang="en-US" sz="162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300+ fare manipulation and refusal events recorded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176506" y="4926023"/>
            <a:ext cx="746986" cy="747004"/>
            <a:chOff x="0" y="0"/>
            <a:chExt cx="995981" cy="996005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47037" y="4926023"/>
            <a:ext cx="746986" cy="747004"/>
            <a:chOff x="0" y="0"/>
            <a:chExt cx="995981" cy="996005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19608" y="4926023"/>
            <a:ext cx="746986" cy="747004"/>
            <a:chOff x="0" y="0"/>
            <a:chExt cx="995981" cy="996005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791068" y="4926023"/>
            <a:ext cx="746986" cy="747004"/>
            <a:chOff x="0" y="0"/>
            <a:chExt cx="995981" cy="996005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363658" y="1752947"/>
            <a:ext cx="11560683" cy="105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37"/>
              </a:lnSpc>
            </a:pPr>
            <a:r>
              <a:rPr lang="en-US" sz="7997" spc="-51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 Statistics on Taxi Issues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07805" y="9030335"/>
            <a:ext cx="4452004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19"/>
              </a:lnSpc>
            </a:pPr>
            <a:r>
              <a:rPr lang="en-US" sz="22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The Transport Department[2]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222339"/>
            <a:ext cx="1849954" cy="1625827"/>
            <a:chOff x="0" y="0"/>
            <a:chExt cx="2466605" cy="216776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167769"/>
              <a:chOff x="0" y="0"/>
              <a:chExt cx="787566" cy="69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6921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21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2150"/>
                    </a:lnTo>
                    <a:lnTo>
                      <a:pt x="0" y="6921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30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74999"/>
              <a:ext cx="1828278" cy="92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75"/>
                </a:lnSpc>
              </a:pPr>
              <a:r>
                <a:rPr lang="en-US" sz="5076" spc="-324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07253" y="2193985"/>
            <a:ext cx="10423258" cy="5780170"/>
          </a:xfrm>
          <a:custGeom>
            <a:avLst/>
            <a:gdLst/>
            <a:ahLst/>
            <a:cxnLst/>
            <a:rect l="l" t="t" r="r" b="b"/>
            <a:pathLst>
              <a:path w="10423258" h="5780170">
                <a:moveTo>
                  <a:pt x="0" y="0"/>
                </a:moveTo>
                <a:lnTo>
                  <a:pt x="10423258" y="0"/>
                </a:lnTo>
                <a:lnTo>
                  <a:pt x="10423258" y="5780171"/>
                </a:lnTo>
                <a:lnTo>
                  <a:pt x="0" y="5780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9534" y="784975"/>
            <a:ext cx="10429403" cy="57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2"/>
              </a:lnSpc>
            </a:pPr>
            <a:r>
              <a:rPr lang="en-US" sz="4349" spc="-2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Background &amp; 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91195" y="3219230"/>
            <a:ext cx="7027716" cy="103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Traffic management and intelligent decision data : 29%</a:t>
            </a:r>
          </a:p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Traffic monitoring and real-time data:28%</a:t>
            </a:r>
          </a:p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Transportation policy and planning data:19%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1633" y="8354039"/>
            <a:ext cx="7647569" cy="693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Figure 2. Percentage distribution of the literature numbers of various types of urban transportation data[3].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71064" y="2472621"/>
            <a:ext cx="5666982" cy="57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2"/>
              </a:lnSpc>
            </a:pPr>
            <a:r>
              <a:rPr lang="en-US" sz="4349" spc="-2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Decision Making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91195" y="6514623"/>
            <a:ext cx="7027716" cy="103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Transportation planning</a:t>
            </a:r>
          </a:p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safety management</a:t>
            </a:r>
          </a:p>
          <a:p>
            <a:pPr marL="0" lvl="0" indent="0" algn="just">
              <a:lnSpc>
                <a:spcPts val="2731"/>
              </a:lnSpc>
            </a:pPr>
            <a:r>
              <a:rPr lang="en-US" sz="195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Economic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91195" y="5769998"/>
            <a:ext cx="5666982" cy="57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2"/>
              </a:lnSpc>
            </a:pPr>
            <a:r>
              <a:rPr lang="en-US" sz="4349" spc="-2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Informational Foundation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1274214"/>
            <a:ext cx="5217559" cy="245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37"/>
              </a:lnSpc>
            </a:pPr>
            <a:r>
              <a:rPr lang="en-US" sz="9630" spc="-61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117"/>
              <a:ext cx="10820400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MAIN GOALS OF THE TAXI TRIP TIME PREDICTION SYSTEM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543862" y="2879274"/>
            <a:ext cx="7661679" cy="7180946"/>
          </a:xfrm>
          <a:custGeom>
            <a:avLst/>
            <a:gdLst/>
            <a:ahLst/>
            <a:cxnLst/>
            <a:rect l="l" t="t" r="r" b="b"/>
            <a:pathLst>
              <a:path w="7661679" h="7180946">
                <a:moveTo>
                  <a:pt x="0" y="0"/>
                </a:moveTo>
                <a:lnTo>
                  <a:pt x="7661680" y="0"/>
                </a:lnTo>
                <a:lnTo>
                  <a:pt x="7661680" y="7180947"/>
                </a:lnTo>
                <a:lnTo>
                  <a:pt x="0" y="7180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70201" y="5206429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50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Calculate optimal route, direction, and estimated trip </a:t>
            </a:r>
            <a:r>
              <a:rPr lang="en-US" sz="2250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time from origin to destination.</a:t>
            </a:r>
            <a:endParaRPr lang="en-US" sz="2265" spc="-56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70201" y="6197721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Collect and process data via  GPS coordinates, or place names input.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0201" y="7189012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Provide multiple predicted route options for user comparison and selection.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0201" y="8180304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Train and validate machine learning models for accurate trip time prediction.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52512" y="8376909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05033"/>
            <a:ext cx="1849954" cy="1743133"/>
            <a:chOff x="0" y="0"/>
            <a:chExt cx="2466605" cy="23241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24177"/>
              <a:chOff x="0" y="0"/>
              <a:chExt cx="787566" cy="7420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4209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209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2090"/>
                    </a:lnTo>
                    <a:lnTo>
                      <a:pt x="0" y="7420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80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69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48"/>
                </a:lnSpc>
              </a:pPr>
              <a:r>
                <a:rPr lang="en-US" sz="5866" spc="-37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14500" y="2127804"/>
            <a:ext cx="40440" cy="1732806"/>
            <a:chOff x="0" y="0"/>
            <a:chExt cx="12543" cy="537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3981" y="5768728"/>
            <a:ext cx="6376039" cy="1593100"/>
            <a:chOff x="0" y="0"/>
            <a:chExt cx="2754311" cy="6881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981" y="7665200"/>
            <a:ext cx="6376039" cy="1593100"/>
            <a:chOff x="0" y="0"/>
            <a:chExt cx="2754311" cy="6881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64220" y="5768728"/>
            <a:ext cx="6376039" cy="1593100"/>
            <a:chOff x="0" y="0"/>
            <a:chExt cx="2754311" cy="6881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64220" y="7665200"/>
            <a:ext cx="6376039" cy="1593100"/>
            <a:chOff x="0" y="0"/>
            <a:chExt cx="2754311" cy="6881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08159" y="2612007"/>
            <a:ext cx="13232101" cy="90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2"/>
              </a:lnSpc>
            </a:pPr>
            <a:r>
              <a:rPr lang="en-US" sz="6921" spc="-44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Methodology – Data &amp; Algorithms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087504" y="6085720"/>
            <a:ext cx="5128994" cy="904893"/>
            <a:chOff x="0" y="0"/>
            <a:chExt cx="6838659" cy="1206524"/>
          </a:xfrm>
        </p:grpSpPr>
        <p:sp>
          <p:nvSpPr>
            <p:cNvPr id="24" name="TextBox 24"/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Porto Taxi GPS Data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1.7M+ trajectories from Kaggle with precise coordinate timestamps.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2571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87504" y="7999336"/>
            <a:ext cx="5128994" cy="905806"/>
            <a:chOff x="0" y="0"/>
            <a:chExt cx="6838659" cy="1207741"/>
          </a:xfrm>
        </p:grpSpPr>
        <p:sp>
          <p:nvSpPr>
            <p:cNvPr id="28" name="TextBox 28"/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Haversine Formula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89864" y="534605"/>
              <a:ext cx="5248795" cy="67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98"/>
                </a:lnSpc>
              </a:pPr>
              <a:r>
                <a:rPr lang="en-US" sz="1498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Calculates straight-line distance and bearing between GPS coordinates.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89549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87743" y="6114854"/>
            <a:ext cx="5128994" cy="904893"/>
            <a:chOff x="0" y="0"/>
            <a:chExt cx="6838659" cy="1206524"/>
          </a:xfrm>
        </p:grpSpPr>
        <p:sp>
          <p:nvSpPr>
            <p:cNvPr id="32" name="TextBox 32"/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Dijkstra Algorithm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Computes shortest path on OpenStreetMap road network graph.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23177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87743" y="8008077"/>
            <a:ext cx="5128994" cy="904893"/>
            <a:chOff x="0" y="0"/>
            <a:chExt cx="6838659" cy="1206524"/>
          </a:xfrm>
        </p:grpSpPr>
        <p:sp>
          <p:nvSpPr>
            <p:cNvPr id="36" name="TextBox 36"/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Feature Engineering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Extracts hour, day, month, year to capture temporal traffic patterns.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95609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C4FB-AD7F-5ECB-47ED-98F3F100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970EE8-2627-0D1F-27C3-DF0919806A9E}"/>
              </a:ext>
            </a:extLst>
          </p:cNvPr>
          <p:cNvGrpSpPr/>
          <p:nvPr/>
        </p:nvGrpSpPr>
        <p:grpSpPr>
          <a:xfrm>
            <a:off x="16438046" y="105033"/>
            <a:ext cx="1849954" cy="1743133"/>
            <a:chOff x="0" y="0"/>
            <a:chExt cx="2466605" cy="2324177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CF645DD-59CB-CEAF-30E5-0FC7E2CE4A2B}"/>
                </a:ext>
              </a:extLst>
            </p:cNvPr>
            <p:cNvGrpSpPr/>
            <p:nvPr/>
          </p:nvGrpSpPr>
          <p:grpSpPr>
            <a:xfrm>
              <a:off x="0" y="0"/>
              <a:ext cx="2466605" cy="2324177"/>
              <a:chOff x="0" y="0"/>
              <a:chExt cx="787566" cy="742090"/>
            </a:xfrm>
          </p:grpSpPr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63152E0F-0356-90A3-DB51-3AD96FBEAF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780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94496CD-ECE5-9415-C54E-DA71D40420C6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4209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209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2090"/>
                    </a:lnTo>
                    <a:lnTo>
                      <a:pt x="0" y="7420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ACA5F88-E53C-E76F-F80A-0B852DE95A3B}"/>
                </a:ext>
              </a:extLst>
            </p:cNvPr>
            <p:cNvSpPr txBox="1"/>
            <p:nvPr/>
          </p:nvSpPr>
          <p:spPr>
            <a:xfrm>
              <a:off x="319164" y="684524"/>
              <a:ext cx="1828278" cy="1069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48"/>
                </a:lnSpc>
              </a:pPr>
              <a:r>
                <a:rPr lang="en-US" sz="5866" spc="-37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1F022ED-B2B4-9F26-1AB9-6CA50EC7A24D}"/>
              </a:ext>
            </a:extLst>
          </p:cNvPr>
          <p:cNvGrpSpPr/>
          <p:nvPr/>
        </p:nvGrpSpPr>
        <p:grpSpPr>
          <a:xfrm>
            <a:off x="1770643" y="456689"/>
            <a:ext cx="40440" cy="1732806"/>
            <a:chOff x="0" y="0"/>
            <a:chExt cx="12543" cy="53746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7331083-C287-60D9-D7C1-7D2FA872EFD4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41F02AF-A2B0-F48A-17AA-B580D01C946E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04402A3-8857-02D6-6C62-B45BDB491963}"/>
              </a:ext>
            </a:extLst>
          </p:cNvPr>
          <p:cNvSpPr txBox="1"/>
          <p:nvPr/>
        </p:nvSpPr>
        <p:spPr>
          <a:xfrm>
            <a:off x="2021611" y="940892"/>
            <a:ext cx="13232101" cy="90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81"/>
              </a:lnSpc>
            </a:pPr>
            <a:r>
              <a:rPr lang="en-US" sz="6900" spc="-44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a typeface="+mn-lt"/>
                <a:cs typeface="+mn-lt"/>
                <a:sym typeface="Bricolage Grotesque"/>
              </a:rPr>
              <a:t>Haversine </a:t>
            </a:r>
            <a:r>
              <a:rPr lang="en-US" sz="6900" spc="-442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a typeface="+mn-lt"/>
                <a:cs typeface="+mn-lt"/>
                <a:sym typeface="Bricolage Grotesque"/>
              </a:rPr>
              <a:t>Formula</a:t>
            </a:r>
            <a:endParaRPr lang="zh-TW" err="1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1BF370E-56A4-B1DC-3883-079EF3E309BC}"/>
              </a:ext>
            </a:extLst>
          </p:cNvPr>
          <p:cNvGrpSpPr/>
          <p:nvPr/>
        </p:nvGrpSpPr>
        <p:grpSpPr>
          <a:xfrm>
            <a:off x="1652223" y="4109021"/>
            <a:ext cx="5128994" cy="904893"/>
            <a:chOff x="0" y="0"/>
            <a:chExt cx="6838659" cy="1206524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CFFB4F0-2040-1709-BA1C-DC1900D564A0}"/>
                </a:ext>
              </a:extLst>
            </p:cNvPr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Dijkstra Algorithm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2C0766A-4164-C507-9D15-FD473053AB67}"/>
                </a:ext>
              </a:extLst>
            </p:cNvPr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Computes shortest path on OpenStreetMap road network graph.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756233C-9D2B-ED8B-5D79-4D65D39FA577}"/>
                </a:ext>
              </a:extLst>
            </p:cNvPr>
            <p:cNvSpPr txBox="1"/>
            <p:nvPr/>
          </p:nvSpPr>
          <p:spPr>
            <a:xfrm>
              <a:off x="0" y="23177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7AE37F33-C415-8373-5412-D6E3582BB256}"/>
              </a:ext>
            </a:extLst>
          </p:cNvPr>
          <p:cNvSpPr txBox="1"/>
          <p:nvPr/>
        </p:nvSpPr>
        <p:spPr>
          <a:xfrm>
            <a:off x="645529" y="2488697"/>
            <a:ext cx="8193382" cy="3557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Initial the original point and destination</a:t>
            </a:r>
            <a:endParaRPr lang="zh-TW" altLang="en-US">
              <a:sym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Obtain their coordinates</a:t>
            </a:r>
            <a:endParaRPr lang="en-US"/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Calculate the distance between the latitudes and longitudes</a:t>
            </a:r>
            <a:endParaRPr lang="en-US" sz="2200" spc="-6" err="1">
              <a:solidFill>
                <a:srgbClr val="3A58E4"/>
              </a:solidFill>
              <a:latin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Covert the latitudes to radians by power of </a:t>
            </a:r>
            <a:r>
              <a:rPr lang="en-US" sz="2200" spc="-6" err="1">
                <a:solidFill>
                  <a:srgbClr val="3A58E4"/>
                </a:solidFill>
                <a:latin typeface="Poppins"/>
                <a:cs typeface="Poppins"/>
              </a:rPr>
              <a:t>math.pi</a:t>
            </a: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/180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Apply the formula a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Apply the formula c</a:t>
            </a:r>
          </a:p>
          <a:p>
            <a:pPr marL="237490" lvl="1" algn="just">
              <a:lnSpc>
                <a:spcPts val="3080"/>
              </a:lnSpc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Notes : d is distance, R is Earth radius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endParaRPr lang="en-US" sz="2200" spc="-6">
              <a:solidFill>
                <a:srgbClr val="3A58E4"/>
              </a:solidFill>
              <a:latin typeface="Poppins"/>
              <a:cs typeface="Poppins"/>
            </a:endParaRPr>
          </a:p>
        </p:txBody>
      </p:sp>
      <p:pic>
        <p:nvPicPr>
          <p:cNvPr id="17" name="圖片 16" descr="一張含有 文字, 筆跡, 字型, 黑板 的圖片&#10;&#10;AI 產生的內容可能不正確。">
            <a:extLst>
              <a:ext uri="{FF2B5EF4-FFF2-40B4-BE49-F238E27FC236}">
                <a16:creationId xmlns:a16="http://schemas.microsoft.com/office/drawing/2014/main" id="{EEA874D2-E4B5-EA47-AEA6-6F494B7F3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831" y="2524978"/>
            <a:ext cx="7981950" cy="260985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48691FA-BD57-A6FE-F966-BFDF13524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906" y="5919859"/>
            <a:ext cx="11820381" cy="38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0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B9E4-0662-C7B0-723A-614A9C0A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76A77D-EFAC-F543-E060-60AAEE3A8BB7}"/>
              </a:ext>
            </a:extLst>
          </p:cNvPr>
          <p:cNvGrpSpPr/>
          <p:nvPr/>
        </p:nvGrpSpPr>
        <p:grpSpPr>
          <a:xfrm>
            <a:off x="16438046" y="105033"/>
            <a:ext cx="1849954" cy="1743133"/>
            <a:chOff x="0" y="0"/>
            <a:chExt cx="2466605" cy="2324177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509A52E-89D3-6CE8-D31A-5F216263ECB1}"/>
                </a:ext>
              </a:extLst>
            </p:cNvPr>
            <p:cNvGrpSpPr/>
            <p:nvPr/>
          </p:nvGrpSpPr>
          <p:grpSpPr>
            <a:xfrm>
              <a:off x="0" y="0"/>
              <a:ext cx="2466605" cy="2324177"/>
              <a:chOff x="0" y="0"/>
              <a:chExt cx="787566" cy="742090"/>
            </a:xfrm>
          </p:grpSpPr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62AB2A31-2CFC-B34F-0986-569C415D29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780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6AC5DA93-BF21-FF1A-F8C9-C45D042DFDD3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4209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209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2090"/>
                    </a:lnTo>
                    <a:lnTo>
                      <a:pt x="0" y="7420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A71CE6B-40DA-171A-AD12-AD41F3F8B249}"/>
                </a:ext>
              </a:extLst>
            </p:cNvPr>
            <p:cNvSpPr txBox="1"/>
            <p:nvPr/>
          </p:nvSpPr>
          <p:spPr>
            <a:xfrm>
              <a:off x="319164" y="684524"/>
              <a:ext cx="1828278" cy="1069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48"/>
                </a:lnSpc>
              </a:pPr>
              <a:r>
                <a:rPr lang="en-US" sz="5866" spc="-37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53CBD18-BFC6-EF8B-04C9-742017D6A757}"/>
              </a:ext>
            </a:extLst>
          </p:cNvPr>
          <p:cNvGrpSpPr/>
          <p:nvPr/>
        </p:nvGrpSpPr>
        <p:grpSpPr>
          <a:xfrm>
            <a:off x="1770643" y="456689"/>
            <a:ext cx="40440" cy="1732806"/>
            <a:chOff x="0" y="0"/>
            <a:chExt cx="12543" cy="53746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683BCF-D659-9A85-1148-38BDED3C3AEC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380E0B-4E33-FAB9-71DC-88C410E1310C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995B8F04-0551-2490-199B-2D741DAF6FEB}"/>
              </a:ext>
            </a:extLst>
          </p:cNvPr>
          <p:cNvSpPr txBox="1"/>
          <p:nvPr/>
        </p:nvSpPr>
        <p:spPr>
          <a:xfrm>
            <a:off x="2021611" y="940892"/>
            <a:ext cx="13232101" cy="90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81"/>
              </a:lnSpc>
            </a:pPr>
            <a:r>
              <a:rPr lang="en-US" sz="6900" spc="-44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a typeface="+mn-lt"/>
                <a:cs typeface="+mn-lt"/>
                <a:sym typeface="Bricolage Grotesque"/>
              </a:rPr>
              <a:t>Initial Bearing (Haversine Formula)</a:t>
            </a:r>
            <a:endParaRPr lang="zh-TW"/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6C71026-34E8-AA95-1ED7-56E8B4B6E985}"/>
              </a:ext>
            </a:extLst>
          </p:cNvPr>
          <p:cNvGrpSpPr/>
          <p:nvPr/>
        </p:nvGrpSpPr>
        <p:grpSpPr>
          <a:xfrm>
            <a:off x="1652223" y="4109021"/>
            <a:ext cx="5128994" cy="904893"/>
            <a:chOff x="0" y="0"/>
            <a:chExt cx="6838659" cy="1206524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D9975CC-DB8A-2F44-B636-230C0E4766F3}"/>
                </a:ext>
              </a:extLst>
            </p:cNvPr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Dijkstra Algorithm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D1FE452-1CBE-E670-27EA-C09D1D462C18}"/>
                </a:ext>
              </a:extLst>
            </p:cNvPr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Computes shortest path on OpenStreetMap road network graph.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6505554-A9F8-F464-007D-5AF9F9CEFC02}"/>
                </a:ext>
              </a:extLst>
            </p:cNvPr>
            <p:cNvSpPr txBox="1"/>
            <p:nvPr/>
          </p:nvSpPr>
          <p:spPr>
            <a:xfrm>
              <a:off x="0" y="23177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FBD4A5D2-067A-6C82-F6D3-A54EE8D4EF60}"/>
              </a:ext>
            </a:extLst>
          </p:cNvPr>
          <p:cNvSpPr txBox="1"/>
          <p:nvPr/>
        </p:nvSpPr>
        <p:spPr>
          <a:xfrm>
            <a:off x="474529" y="2435503"/>
            <a:ext cx="8193382" cy="5147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Initial the original point and destination</a:t>
            </a:r>
            <a:endParaRPr lang="zh-TW" altLang="en-US">
              <a:sym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Obtain their coordinates</a:t>
            </a:r>
            <a:endParaRPr lang="en-US"/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Calculate the distance between the latitudes and longitudes</a:t>
            </a:r>
            <a:endParaRPr lang="en-US" sz="2200" spc="-6" err="1">
              <a:solidFill>
                <a:srgbClr val="3A58E4"/>
              </a:solidFill>
              <a:latin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FontTx/>
              <a:buAutoNum type="arabicPeriod"/>
            </a:pPr>
            <a:r>
              <a:rPr lang="en-US" sz="2200" spc="-6" dirty="0">
                <a:solidFill>
                  <a:srgbClr val="3A58E4"/>
                </a:solidFill>
                <a:latin typeface="Poppins"/>
                <a:cs typeface="Poppins"/>
              </a:rPr>
              <a:t>Covert the latitudes to radians by power of </a:t>
            </a:r>
            <a:r>
              <a:rPr lang="en-US" sz="2200" spc="-6" dirty="0" err="1">
                <a:solidFill>
                  <a:srgbClr val="3A58E4"/>
                </a:solidFill>
                <a:latin typeface="Poppins"/>
                <a:cs typeface="Poppins"/>
              </a:rPr>
              <a:t>math.pi</a:t>
            </a:r>
            <a:r>
              <a:rPr lang="en-US" sz="2200" spc="-6" dirty="0">
                <a:solidFill>
                  <a:srgbClr val="3A58E4"/>
                </a:solidFill>
                <a:latin typeface="Poppins"/>
                <a:cs typeface="Poppins"/>
              </a:rPr>
              <a:t>/180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Apply the formula y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Apply the formula x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 dirty="0">
                <a:solidFill>
                  <a:srgbClr val="3A58E4"/>
                </a:solidFill>
                <a:latin typeface="Poppins"/>
                <a:cs typeface="Poppins"/>
              </a:rPr>
              <a:t>Apply the bearing  formula </a:t>
            </a:r>
            <a:r>
              <a:rPr lang="en-US" sz="2200" spc="-6" dirty="0">
                <a:solidFill>
                  <a:srgbClr val="3A58E4"/>
                </a:solidFill>
                <a:ea typeface="+mn-lt"/>
                <a:cs typeface="+mn-lt"/>
              </a:rPr>
              <a:t>θ </a:t>
            </a:r>
            <a:r>
              <a:rPr lang="en-US" sz="2200" spc="-6" dirty="0">
                <a:solidFill>
                  <a:srgbClr val="3A58E4"/>
                </a:solidFill>
                <a:latin typeface="Poppins"/>
                <a:cs typeface="Poppins"/>
              </a:rPr>
              <a:t>and get the initial bearing B</a:t>
            </a: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cs typeface="Poppins"/>
              </a:rPr>
              <a:t>Convert the bearing B to readable direction by (B+22.5)//45</a:t>
            </a:r>
          </a:p>
          <a:p>
            <a:pPr marL="237490" lvl="1" algn="just">
              <a:lnSpc>
                <a:spcPts val="3080"/>
              </a:lnSpc>
            </a:pPr>
            <a:endParaRPr lang="en-US" sz="2200" spc="-6" dirty="0">
              <a:solidFill>
                <a:srgbClr val="3A58E4"/>
              </a:solidFill>
              <a:latin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endParaRPr lang="en-US" sz="2200" spc="-6">
              <a:solidFill>
                <a:srgbClr val="3A58E4"/>
              </a:solidFill>
              <a:latin typeface="Poppins"/>
              <a:cs typeface="Poppins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3696455-E436-AA54-91DD-960EDBC5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289" y="2864608"/>
            <a:ext cx="8667750" cy="2476500"/>
          </a:xfrm>
          <a:prstGeom prst="rect">
            <a:avLst/>
          </a:prstGeom>
        </p:spPr>
      </p:pic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ED97CE09-F1CE-6873-D389-A0D789893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04071"/>
              </p:ext>
            </p:extLst>
          </p:nvPr>
        </p:nvGraphicFramePr>
        <p:xfrm>
          <a:off x="126000" y="6993000"/>
          <a:ext cx="18049370" cy="12801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37681">
                  <a:extLst>
                    <a:ext uri="{9D8B030D-6E8A-4147-A177-3AD203B41FA5}">
                      <a16:colId xmlns:a16="http://schemas.microsoft.com/office/drawing/2014/main" val="797631640"/>
                    </a:ext>
                  </a:extLst>
                </a:gridCol>
                <a:gridCol w="1511673">
                  <a:extLst>
                    <a:ext uri="{9D8B030D-6E8A-4147-A177-3AD203B41FA5}">
                      <a16:colId xmlns:a16="http://schemas.microsoft.com/office/drawing/2014/main" val="860165735"/>
                    </a:ext>
                  </a:extLst>
                </a:gridCol>
                <a:gridCol w="2187951">
                  <a:extLst>
                    <a:ext uri="{9D8B030D-6E8A-4147-A177-3AD203B41FA5}">
                      <a16:colId xmlns:a16="http://schemas.microsoft.com/office/drawing/2014/main" val="2077350752"/>
                    </a:ext>
                  </a:extLst>
                </a:gridCol>
                <a:gridCol w="1909487">
                  <a:extLst>
                    <a:ext uri="{9D8B030D-6E8A-4147-A177-3AD203B41FA5}">
                      <a16:colId xmlns:a16="http://schemas.microsoft.com/office/drawing/2014/main" val="1535005431"/>
                    </a:ext>
                  </a:extLst>
                </a:gridCol>
                <a:gridCol w="2168055">
                  <a:extLst>
                    <a:ext uri="{9D8B030D-6E8A-4147-A177-3AD203B41FA5}">
                      <a16:colId xmlns:a16="http://schemas.microsoft.com/office/drawing/2014/main" val="1517888040"/>
                    </a:ext>
                  </a:extLst>
                </a:gridCol>
                <a:gridCol w="2426635">
                  <a:extLst>
                    <a:ext uri="{9D8B030D-6E8A-4147-A177-3AD203B41FA5}">
                      <a16:colId xmlns:a16="http://schemas.microsoft.com/office/drawing/2014/main" val="1308598258"/>
                    </a:ext>
                  </a:extLst>
                </a:gridCol>
                <a:gridCol w="2091309">
                  <a:extLst>
                    <a:ext uri="{9D8B030D-6E8A-4147-A177-3AD203B41FA5}">
                      <a16:colId xmlns:a16="http://schemas.microsoft.com/office/drawing/2014/main" val="2395120898"/>
                    </a:ext>
                  </a:extLst>
                </a:gridCol>
                <a:gridCol w="2036576">
                  <a:extLst>
                    <a:ext uri="{9D8B030D-6E8A-4147-A177-3AD203B41FA5}">
                      <a16:colId xmlns:a16="http://schemas.microsoft.com/office/drawing/2014/main" val="2646864098"/>
                    </a:ext>
                  </a:extLst>
                </a:gridCol>
                <a:gridCol w="2080003">
                  <a:extLst>
                    <a:ext uri="{9D8B030D-6E8A-4147-A177-3AD203B41FA5}">
                      <a16:colId xmlns:a16="http://schemas.microsoft.com/office/drawing/2014/main" val="3117325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0 to 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22.5 &lt;B&lt; 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67</a:t>
                      </a:r>
                      <a:r>
                        <a:rPr 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.5&lt;B&lt;</a:t>
                      </a: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112</a:t>
                      </a:r>
                      <a:r>
                        <a:rPr 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.5</a:t>
                      </a:r>
                      <a:endParaRPr lang="zh-TW" sz="2400">
                        <a:latin typeface="Canva Sans Bold"/>
                        <a:cs typeface="Poppins Itali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112.5&lt;</a:t>
                      </a:r>
                      <a:r>
                        <a:rPr lang="zh-TW" altLang="en-US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B&lt;157.5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157.5&lt;B&lt;202.5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202.5&lt;B&lt;247.5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2</a:t>
                      </a: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47</a:t>
                      </a:r>
                      <a:r>
                        <a:rPr 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.5&lt;B&lt;2</a:t>
                      </a: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92</a:t>
                      </a:r>
                      <a:r>
                        <a:rPr 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.5</a:t>
                      </a:r>
                      <a:endParaRPr lang="zh-TW" sz="2400">
                        <a:latin typeface="Canva Sans Bold"/>
                        <a:cs typeface="Poppins Itali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2400" b="1" i="0" u="none" strike="noStrike" noProof="0">
                          <a:solidFill>
                            <a:srgbClr val="FFFFFF"/>
                          </a:solidFill>
                          <a:latin typeface="Canva Sans Bold"/>
                          <a:ea typeface="PMingLiU"/>
                          <a:cs typeface="Poppins Italics"/>
                        </a:rPr>
                        <a:t>292.5&lt;B&lt;337.5</a:t>
                      </a:r>
                      <a:endParaRPr lang="zh-TW" sz="2400" b="1" i="0" u="none" strike="noStrike" noProof="0">
                        <a:solidFill>
                          <a:srgbClr val="FFFFFF"/>
                        </a:solidFill>
                        <a:latin typeface="Canva Sans Bold"/>
                        <a:ea typeface="PMingLiU"/>
                        <a:cs typeface="Poppins Itali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892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Canva Sans Bold"/>
                          <a:ea typeface="新細明體"/>
                          <a:cs typeface="Poppins Italics"/>
                        </a:rPr>
                        <a:t>Northeast</a:t>
                      </a:r>
                      <a:endParaRPr lang="zh-TW" sz="2400">
                        <a:latin typeface="Canva Sans Bold"/>
                        <a:cs typeface="Poppins Itali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Southeast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Canva Sans Bold"/>
                          <a:ea typeface="新細明體"/>
                          <a:cs typeface="Poppins Italics"/>
                        </a:rPr>
                        <a:t>Southwest</a:t>
                      </a:r>
                      <a:endParaRPr lang="zh-TW" sz="2400">
                        <a:latin typeface="Canva Sans Bold"/>
                        <a:cs typeface="Poppins Itali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400">
                          <a:latin typeface="Canva Sans Bold"/>
                          <a:cs typeface="Poppins Italics"/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400" b="0" i="0" u="none" strike="noStrike" noProof="0">
                          <a:latin typeface="Canva Sans Bold"/>
                          <a:ea typeface="新細明體"/>
                          <a:cs typeface="Poppins Italics"/>
                        </a:rPr>
                        <a:t>Northwest</a:t>
                      </a:r>
                      <a:endParaRPr lang="zh-TW" sz="2400">
                        <a:latin typeface="Canva Sans Bold"/>
                        <a:cs typeface="Poppins Itali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72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03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05033"/>
            <a:ext cx="1849954" cy="1743133"/>
            <a:chOff x="0" y="0"/>
            <a:chExt cx="2466605" cy="23241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24177"/>
              <a:chOff x="0" y="0"/>
              <a:chExt cx="787566" cy="74209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80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4209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209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2090"/>
                    </a:lnTo>
                    <a:lnTo>
                      <a:pt x="0" y="7420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69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48"/>
                </a:lnSpc>
              </a:pPr>
              <a:r>
                <a:rPr lang="en-US" sz="5866" spc="-37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70643" y="456689"/>
            <a:ext cx="40440" cy="1732806"/>
            <a:chOff x="0" y="0"/>
            <a:chExt cx="12543" cy="537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2188" y="5902273"/>
            <a:ext cx="8802021" cy="3861887"/>
          </a:xfrm>
          <a:custGeom>
            <a:avLst/>
            <a:gdLst/>
            <a:ahLst/>
            <a:cxnLst/>
            <a:rect l="l" t="t" r="r" b="b"/>
            <a:pathLst>
              <a:path w="8802021" h="3861887">
                <a:moveTo>
                  <a:pt x="0" y="0"/>
                </a:moveTo>
                <a:lnTo>
                  <a:pt x="8802021" y="0"/>
                </a:lnTo>
                <a:lnTo>
                  <a:pt x="8802021" y="3861887"/>
                </a:lnTo>
                <a:lnTo>
                  <a:pt x="0" y="3861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21611" y="940892"/>
            <a:ext cx="13232101" cy="90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2"/>
              </a:lnSpc>
            </a:pPr>
            <a:r>
              <a:rPr lang="en-US" sz="6921" spc="-44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Dijkstra Algorithm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52223" y="4109021"/>
            <a:ext cx="5128994" cy="904893"/>
            <a:chOff x="0" y="0"/>
            <a:chExt cx="6838659" cy="1206524"/>
          </a:xfrm>
        </p:grpSpPr>
        <p:sp>
          <p:nvSpPr>
            <p:cNvPr id="13" name="TextBox 13"/>
            <p:cNvSpPr txBox="1"/>
            <p:nvPr/>
          </p:nvSpPr>
          <p:spPr>
            <a:xfrm>
              <a:off x="1589864" y="-85725"/>
              <a:ext cx="4202931" cy="490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37"/>
                </a:lnSpc>
              </a:pPr>
              <a:r>
                <a:rPr lang="en-US" sz="1998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Dijkstra Algorithm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Computes shortest path on OpenStreetMap road network graph.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3177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5529" y="2454578"/>
            <a:ext cx="8278680" cy="3159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Initial the starting node A and all other nodes </a:t>
            </a:r>
            <a:endParaRPr lang="zh-TW" altLang="en-US"/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Calculate all possible paths from A to other nodes </a:t>
            </a:r>
            <a:endParaRPr lang="en-US" sz="2200" spc="-6" dirty="0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Find the shortest path to other nodes </a:t>
            </a:r>
            <a:endParaRPr lang="en-US" sz="2200" spc="-6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Confirm destination node like F </a:t>
            </a:r>
            <a:endParaRPr lang="en-US" sz="2200" spc="-6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Select the possible shortest path from A to F </a:t>
            </a:r>
            <a:endParaRPr lang="en-US" sz="2200" spc="-6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474980" lvl="1" indent="-237490" algn="just">
              <a:lnSpc>
                <a:spcPts val="3080"/>
              </a:lnSpc>
              <a:buAutoNum type="arabicPeriod"/>
            </a:pPr>
            <a:r>
              <a:rPr lang="en-US" sz="2200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Once all nodes have been calculated, the algorithm terminates. The final shortest distance from A to F is 8. </a:t>
            </a:r>
            <a:endParaRPr lang="en-US" sz="2200" spc="-6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0" lvl="0" indent="0" algn="just">
              <a:lnSpc>
                <a:spcPts val="3080"/>
              </a:lnSpc>
            </a:pPr>
            <a:endParaRPr lang="en-US" sz="2200" spc="-6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" name="圖片 17" descr="一張含有 文字, 數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2CC62B4-23AF-BE1E-EF67-E322D6D5E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900" y="1845600"/>
            <a:ext cx="8458200" cy="830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82124" y="22794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38766" y="-2476578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38709" y="4687086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159927" y="1962181"/>
            <a:ext cx="907264" cy="792834"/>
          </a:xfrm>
          <a:custGeom>
            <a:avLst/>
            <a:gdLst/>
            <a:ahLst/>
            <a:cxnLst/>
            <a:rect l="l" t="t" r="r" b="b"/>
            <a:pathLst>
              <a:path w="907264" h="792834">
                <a:moveTo>
                  <a:pt x="0" y="0"/>
                </a:moveTo>
                <a:lnTo>
                  <a:pt x="907264" y="0"/>
                </a:lnTo>
                <a:lnTo>
                  <a:pt x="907264" y="792834"/>
                </a:lnTo>
                <a:lnTo>
                  <a:pt x="0" y="792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7250" y="1721705"/>
            <a:ext cx="980424" cy="889337"/>
          </a:xfrm>
          <a:custGeom>
            <a:avLst/>
            <a:gdLst/>
            <a:ahLst/>
            <a:cxnLst/>
            <a:rect l="l" t="t" r="r" b="b"/>
            <a:pathLst>
              <a:path w="980424" h="889337">
                <a:moveTo>
                  <a:pt x="0" y="0"/>
                </a:moveTo>
                <a:lnTo>
                  <a:pt x="980424" y="0"/>
                </a:lnTo>
                <a:lnTo>
                  <a:pt x="980424" y="889337"/>
                </a:lnTo>
                <a:lnTo>
                  <a:pt x="0" y="889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651161" y="1721705"/>
            <a:ext cx="3438193" cy="2157346"/>
            <a:chOff x="0" y="0"/>
            <a:chExt cx="4584257" cy="2876461"/>
          </a:xfrm>
        </p:grpSpPr>
        <p:sp>
          <p:nvSpPr>
            <p:cNvPr id="8" name="Freeform 8"/>
            <p:cNvSpPr/>
            <p:nvPr/>
          </p:nvSpPr>
          <p:spPr>
            <a:xfrm>
              <a:off x="1568204" y="0"/>
              <a:ext cx="1545991" cy="1593317"/>
            </a:xfrm>
            <a:custGeom>
              <a:avLst/>
              <a:gdLst/>
              <a:ahLst/>
              <a:cxnLst/>
              <a:rect l="l" t="t" r="r" b="b"/>
              <a:pathLst>
                <a:path w="1545991" h="1593317">
                  <a:moveTo>
                    <a:pt x="0" y="0"/>
                  </a:moveTo>
                  <a:lnTo>
                    <a:pt x="1545991" y="0"/>
                  </a:lnTo>
                  <a:lnTo>
                    <a:pt x="1545991" y="1593317"/>
                  </a:lnTo>
                  <a:lnTo>
                    <a:pt x="0" y="1593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1792121"/>
              <a:ext cx="4584257" cy="108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43"/>
                </a:lnSpc>
                <a:spcBef>
                  <a:spcPct val="0"/>
                </a:spcBef>
              </a:pPr>
              <a:r>
                <a:rPr lang="en-US" sz="2388" b="1" spc="-15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DECISION TREE REGRESSION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13026" y="3198565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XGBOOST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51219" y="1848166"/>
            <a:ext cx="3438193" cy="1688535"/>
            <a:chOff x="0" y="0"/>
            <a:chExt cx="4584257" cy="2251379"/>
          </a:xfrm>
        </p:grpSpPr>
        <p:sp>
          <p:nvSpPr>
            <p:cNvPr id="12" name="Freeform 12"/>
            <p:cNvSpPr/>
            <p:nvPr/>
          </p:nvSpPr>
          <p:spPr>
            <a:xfrm>
              <a:off x="1592635" y="0"/>
              <a:ext cx="1333226" cy="1300636"/>
            </a:xfrm>
            <a:custGeom>
              <a:avLst/>
              <a:gdLst/>
              <a:ahLst/>
              <a:cxnLst/>
              <a:rect l="l" t="t" r="r" b="b"/>
              <a:pathLst>
                <a:path w="1333226" h="1300636">
                  <a:moveTo>
                    <a:pt x="0" y="0"/>
                  </a:moveTo>
                  <a:lnTo>
                    <a:pt x="1333226" y="0"/>
                  </a:lnTo>
                  <a:lnTo>
                    <a:pt x="1333226" y="1300636"/>
                  </a:lnTo>
                  <a:lnTo>
                    <a:pt x="0" y="1300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1725839"/>
              <a:ext cx="4584257" cy="525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43"/>
                </a:lnSpc>
              </a:pPr>
              <a:r>
                <a:rPr lang="en-US" sz="2388" b="1" spc="-152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RANDOM FOREST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91665" y="-2553132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4103737" y="-2553132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3572599" y="7186459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5399137" y="1465045"/>
            <a:ext cx="1483978" cy="1530352"/>
          </a:xfrm>
          <a:custGeom>
            <a:avLst/>
            <a:gdLst/>
            <a:ahLst/>
            <a:cxnLst/>
            <a:rect l="l" t="t" r="r" b="b"/>
            <a:pathLst>
              <a:path w="1483978" h="1530352">
                <a:moveTo>
                  <a:pt x="0" y="0"/>
                </a:moveTo>
                <a:lnTo>
                  <a:pt x="1483978" y="0"/>
                </a:lnTo>
                <a:lnTo>
                  <a:pt x="1483978" y="1530352"/>
                </a:lnTo>
                <a:lnTo>
                  <a:pt x="0" y="153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4406" y="2977477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K-NEAREST NEIGHBORS (KNN)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38444" y="6553986"/>
            <a:ext cx="7762895" cy="182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Input features: 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+mn-lt"/>
                <a:cs typeface="Poppins"/>
                <a:sym typeface="Poppins"/>
              </a:rPr>
              <a:t>Length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, Hour, Day, Month, Year</a:t>
            </a:r>
            <a:endParaRPr lang="zh-TW" altLang="en-US" dirty="0">
              <a:cs typeface="Calibri"/>
            </a:endParaRPr>
          </a:p>
          <a:p>
            <a:pPr marL="561340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Input target: Trip Time</a:t>
            </a:r>
            <a:endParaRPr lang="en-US" sz="2600" spc="-7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561340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spc="-7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StandardScaler</a:t>
            </a:r>
            <a:r>
              <a:rPr lang="en-US" sz="2600" spc="-7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: normalization input data</a:t>
            </a:r>
            <a:endParaRPr lang="en-US" sz="2600" spc="-7" dirty="0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389676" y="3130639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LINEAR REGRESSION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3067" y="6687336"/>
            <a:ext cx="2928790" cy="211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OVERALL TRAINING AND TESTING DATA (70% FOR TRAINING AND 30% FOR TESTING)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1075" y="700182"/>
            <a:ext cx="47625" cy="657036"/>
            <a:chOff x="0" y="0"/>
            <a:chExt cx="12543" cy="173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73047"/>
            </a:xfrm>
            <a:custGeom>
              <a:avLst/>
              <a:gdLst/>
              <a:ahLst/>
              <a:cxnLst/>
              <a:rect l="l" t="t" r="r" b="b"/>
              <a:pathLst>
                <a:path w="12543" h="173047">
                  <a:moveTo>
                    <a:pt x="0" y="0"/>
                  </a:moveTo>
                  <a:lnTo>
                    <a:pt x="12543" y="0"/>
                  </a:lnTo>
                  <a:lnTo>
                    <a:pt x="12543" y="173047"/>
                  </a:lnTo>
                  <a:lnTo>
                    <a:pt x="0" y="17304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211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76818" y="665002"/>
            <a:ext cx="11695913" cy="8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Model Performance Comparison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957046" y="0"/>
            <a:ext cx="5125823" cy="10287000"/>
            <a:chOff x="0" y="0"/>
            <a:chExt cx="6834430" cy="1371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532806" cy="13716000"/>
              <a:chOff x="0" y="0"/>
              <a:chExt cx="759077" cy="15937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59077" cy="1593725"/>
              </a:xfrm>
              <a:custGeom>
                <a:avLst/>
                <a:gdLst/>
                <a:ahLst/>
                <a:cxnLst/>
                <a:rect l="l" t="t" r="r" b="b"/>
                <a:pathLst>
                  <a:path w="759077" h="1593725">
                    <a:moveTo>
                      <a:pt x="0" y="0"/>
                    </a:moveTo>
                    <a:lnTo>
                      <a:pt x="759077" y="0"/>
                    </a:lnTo>
                    <a:lnTo>
                      <a:pt x="759077" y="1593725"/>
                    </a:lnTo>
                    <a:lnTo>
                      <a:pt x="0" y="1593725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20728" r="-20728"/>
                </a:stretch>
              </a:blipFill>
            </p:spPr>
          </p:sp>
        </p:grpSp>
        <p:sp>
          <p:nvSpPr>
            <p:cNvPr id="10" name="AutoShape 10"/>
            <p:cNvSpPr/>
            <p:nvPr/>
          </p:nvSpPr>
          <p:spPr>
            <a:xfrm>
              <a:off x="6821730" y="0"/>
              <a:ext cx="0" cy="13716000"/>
            </a:xfrm>
            <a:prstGeom prst="line">
              <a:avLst/>
            </a:prstGeom>
            <a:ln w="25400" cap="rnd">
              <a:solidFill>
                <a:srgbClr val="3A58E4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76818" y="1678782"/>
            <a:ext cx="6310051" cy="854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OVERALL TRAINING AND TESTING RESULTS (70% FOR TRAINING AND 30% FOR TESTING)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976836" y="0"/>
            <a:ext cx="1849954" cy="1743133"/>
            <a:chOff x="0" y="0"/>
            <a:chExt cx="2466605" cy="23241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466605" cy="2324177"/>
              <a:chOff x="0" y="0"/>
              <a:chExt cx="787566" cy="7420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87566" cy="74209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209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2090"/>
                    </a:lnTo>
                    <a:lnTo>
                      <a:pt x="0" y="7420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787566" cy="780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19164" y="684524"/>
              <a:ext cx="1828278" cy="1069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48"/>
                </a:lnSpc>
              </a:pPr>
              <a:r>
                <a:rPr lang="en-US" sz="5866" spc="-37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pic>
        <p:nvPicPr>
          <p:cNvPr id="17" name="圖片 1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B239EB45-F712-5C4D-BDB2-C33D54D0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00" y="3018825"/>
            <a:ext cx="10439400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1206794"/>
            <a:ext cx="5217559" cy="252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Functions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256986"/>
            <a:ext cx="8115300" cy="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SUMMARY OF MAIN SYSTEM FEATURES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9382125" y="2427577"/>
            <a:ext cx="8482574" cy="7178378"/>
          </a:xfrm>
          <a:custGeom>
            <a:avLst/>
            <a:gdLst/>
            <a:ahLst/>
            <a:cxnLst/>
            <a:rect l="l" t="t" r="r" b="b"/>
            <a:pathLst>
              <a:path w="8482574" h="7178378">
                <a:moveTo>
                  <a:pt x="0" y="0"/>
                </a:moveTo>
                <a:lnTo>
                  <a:pt x="8482574" y="0"/>
                </a:lnTo>
                <a:lnTo>
                  <a:pt x="8482574" y="7178378"/>
                </a:lnTo>
                <a:lnTo>
                  <a:pt x="0" y="7178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27351" y="7189033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 visualization: heatmaps &amp; marker maps for trip distribution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7351" y="5206409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Trip time estimation combining historical GPS data and ML model predictions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7351" y="6197741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Distance and direction calculation using Dijkstra algorithms with Haversine formula for reference.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8180304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Interactive Flask web interface with Folium maps supporting coordinates or place names.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8376909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567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89467" y="5548492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20" y="0"/>
                </a:lnTo>
                <a:lnTo>
                  <a:pt x="3189920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205564" y="2954285"/>
            <a:ext cx="2920486" cy="2916826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37066" y="4179545"/>
            <a:ext cx="1105637" cy="764271"/>
          </a:xfrm>
          <a:custGeom>
            <a:avLst/>
            <a:gdLst/>
            <a:ahLst/>
            <a:cxnLst/>
            <a:rect l="l" t="t" r="r" b="b"/>
            <a:pathLst>
              <a:path w="1105637" h="764271">
                <a:moveTo>
                  <a:pt x="0" y="0"/>
                </a:moveTo>
                <a:lnTo>
                  <a:pt x="1105637" y="0"/>
                </a:lnTo>
                <a:lnTo>
                  <a:pt x="1105637" y="764271"/>
                </a:lnTo>
                <a:lnTo>
                  <a:pt x="0" y="76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704332" y="1196251"/>
            <a:ext cx="9554968" cy="5697150"/>
          </a:xfrm>
          <a:custGeom>
            <a:avLst/>
            <a:gdLst/>
            <a:ahLst/>
            <a:cxnLst/>
            <a:rect l="l" t="t" r="r" b="b"/>
            <a:pathLst>
              <a:path w="9554968" h="5697150">
                <a:moveTo>
                  <a:pt x="0" y="0"/>
                </a:moveTo>
                <a:lnTo>
                  <a:pt x="9554968" y="0"/>
                </a:lnTo>
                <a:lnTo>
                  <a:pt x="9554968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05564" y="3696579"/>
            <a:ext cx="2708567" cy="64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56"/>
              </a:lnSpc>
            </a:pPr>
            <a:r>
              <a:rPr lang="en-US" sz="4905" b="1" spc="-14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~18,000s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87207" y="4658865"/>
            <a:ext cx="1957200" cy="5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5"/>
              </a:lnSpc>
            </a:pPr>
            <a:r>
              <a:rPr lang="en-US" sz="1639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PEAK DAY TRIP TIME (WEEKDAYS)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7177198"/>
            <a:ext cx="4378886" cy="771512"/>
            <a:chOff x="0" y="0"/>
            <a:chExt cx="5838515" cy="102868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0"/>
              <a:ext cx="5838515" cy="53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2"/>
                </a:lnSpc>
              </a:pPr>
              <a:r>
                <a:rPr lang="en-US" sz="17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WEEKLY PATTERNS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31930"/>
              <a:ext cx="5838515" cy="596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9"/>
                </a:lnSpc>
              </a:pPr>
              <a:r>
                <a:rPr lang="en-US" sz="14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Weekday trips are longer than weekend trips on average.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4711" y="1370449"/>
            <a:ext cx="2753109" cy="103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</a:pPr>
            <a:r>
              <a:rPr lang="en-US" sz="4015" spc="-25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Factor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06307" y="7109579"/>
            <a:ext cx="9252993" cy="161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WeekDays(Monday to Firday): around 16,000s to 18,000 seconds</a:t>
            </a:r>
          </a:p>
          <a:p>
            <a:pPr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WeekEnd(Saturday to Sunday): around 14,000s to 15,000 seconds</a:t>
            </a:r>
          </a:p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Insights: System should consider the working day and remain user may facing long trip time in weekdays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6438046" y="210896"/>
            <a:ext cx="1849954" cy="1637270"/>
            <a:chOff x="0" y="0"/>
            <a:chExt cx="2466605" cy="218302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466605" cy="2183027"/>
              <a:chOff x="0" y="0"/>
              <a:chExt cx="787566" cy="69702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87566" cy="697022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7022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7022"/>
                    </a:lnTo>
                    <a:lnTo>
                      <a:pt x="0" y="69702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787566" cy="7351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19164" y="665474"/>
              <a:ext cx="1828278" cy="947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42"/>
                </a:lnSpc>
              </a:pPr>
              <a:r>
                <a:rPr lang="en-US" sz="5145" spc="-32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12228" y="5548492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228325" y="2954285"/>
            <a:ext cx="2920486" cy="2916826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37066" y="4179545"/>
            <a:ext cx="1105637" cy="764271"/>
          </a:xfrm>
          <a:custGeom>
            <a:avLst/>
            <a:gdLst/>
            <a:ahLst/>
            <a:cxnLst/>
            <a:rect l="l" t="t" r="r" b="b"/>
            <a:pathLst>
              <a:path w="1105637" h="764271">
                <a:moveTo>
                  <a:pt x="0" y="0"/>
                </a:moveTo>
                <a:lnTo>
                  <a:pt x="1105637" y="0"/>
                </a:lnTo>
                <a:lnTo>
                  <a:pt x="1105637" y="764271"/>
                </a:lnTo>
                <a:lnTo>
                  <a:pt x="0" y="764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33429" y="1375420"/>
            <a:ext cx="11301259" cy="5608250"/>
          </a:xfrm>
          <a:custGeom>
            <a:avLst/>
            <a:gdLst/>
            <a:ahLst/>
            <a:cxnLst/>
            <a:rect l="l" t="t" r="r" b="b"/>
            <a:pathLst>
              <a:path w="11301259" h="5608250">
                <a:moveTo>
                  <a:pt x="0" y="0"/>
                </a:moveTo>
                <a:lnTo>
                  <a:pt x="11301259" y="0"/>
                </a:lnTo>
                <a:lnTo>
                  <a:pt x="11301259" y="5608250"/>
                </a:lnTo>
                <a:lnTo>
                  <a:pt x="0" y="560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477483" y="3696579"/>
            <a:ext cx="2459408" cy="64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56"/>
              </a:lnSpc>
            </a:pPr>
            <a:r>
              <a:rPr lang="en-US" sz="4905" b="1" spc="-14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~18,640s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28588" y="4644004"/>
            <a:ext cx="1957200" cy="5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5"/>
              </a:lnSpc>
            </a:pPr>
            <a:r>
              <a:rPr lang="en-US" sz="1639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PEAK HOUR TRIP TIME (17:00)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7066" y="6724991"/>
            <a:ext cx="4378886" cy="771512"/>
            <a:chOff x="0" y="0"/>
            <a:chExt cx="5838515" cy="102868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0"/>
              <a:ext cx="5838515" cy="536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2"/>
                </a:lnSpc>
              </a:pPr>
              <a:r>
                <a:rPr lang="en-US" sz="17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RUSH HOUR IMPACT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31930"/>
              <a:ext cx="5838515" cy="596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9"/>
                </a:lnSpc>
              </a:pPr>
              <a:r>
                <a:rPr lang="en-US" sz="145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Peak trip times occur during 7-9am and 4-7pm rush hours.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4711" y="1370449"/>
            <a:ext cx="2753109" cy="103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</a:pPr>
            <a:r>
              <a:rPr lang="en-US" sz="4015" spc="-25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Factor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6829" y="7246097"/>
            <a:ext cx="9252993" cy="2012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Hour 17(the busiest hours): around 18640.21 seconds</a:t>
            </a:r>
          </a:p>
          <a:p>
            <a:pPr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Hour 1(the least busiest hour): around 13167.53 seconds</a:t>
            </a:r>
          </a:p>
          <a:p>
            <a:pPr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Compared to the overall average: 3034.83 seconds</a:t>
            </a:r>
          </a:p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Insights: System should remain user may facing the longer travel time and select to travel during off-peak hours.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6438046" y="210896"/>
            <a:ext cx="1849954" cy="1637270"/>
            <a:chOff x="0" y="0"/>
            <a:chExt cx="2466605" cy="218302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466605" cy="2183027"/>
              <a:chOff x="0" y="0"/>
              <a:chExt cx="787566" cy="69702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87566" cy="697022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7022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7022"/>
                    </a:lnTo>
                    <a:lnTo>
                      <a:pt x="0" y="69702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787566" cy="7351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19164" y="665474"/>
              <a:ext cx="1828278" cy="947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42"/>
                </a:lnSpc>
              </a:pPr>
              <a:r>
                <a:rPr lang="en-US" sz="5145" spc="-32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2989" y="4001810"/>
            <a:ext cx="3213033" cy="5379569"/>
            <a:chOff x="0" y="0"/>
            <a:chExt cx="1387961" cy="23238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27105" y="4001810"/>
            <a:ext cx="3213033" cy="5379569"/>
            <a:chOff x="0" y="0"/>
            <a:chExt cx="1387961" cy="2323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31221" y="4001810"/>
            <a:ext cx="3213033" cy="5379569"/>
            <a:chOff x="0" y="0"/>
            <a:chExt cx="1387961" cy="23238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487425" y="7903483"/>
            <a:ext cx="622999" cy="351870"/>
            <a:chOff x="0" y="0"/>
            <a:chExt cx="1387983" cy="7840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3672491" y="5127834"/>
            <a:ext cx="622999" cy="351870"/>
            <a:chOff x="0" y="0"/>
            <a:chExt cx="1387983" cy="7840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6876607" y="7903483"/>
            <a:ext cx="622999" cy="351870"/>
            <a:chOff x="0" y="0"/>
            <a:chExt cx="1387983" cy="7840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511114" y="3658381"/>
            <a:ext cx="7511530" cy="6065561"/>
          </a:xfrm>
          <a:custGeom>
            <a:avLst/>
            <a:gdLst/>
            <a:ahLst/>
            <a:cxnLst/>
            <a:rect l="l" t="t" r="r" b="b"/>
            <a:pathLst>
              <a:path w="7511530" h="6065561">
                <a:moveTo>
                  <a:pt x="0" y="0"/>
                </a:moveTo>
                <a:lnTo>
                  <a:pt x="7511530" y="0"/>
                </a:lnTo>
                <a:lnTo>
                  <a:pt x="7511530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782695" y="3004700"/>
            <a:ext cx="7052869" cy="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THREE-LAYER SYSTEM DESIGN OVERVIEW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Architecture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61544" y="4515549"/>
            <a:ext cx="2135924" cy="1891827"/>
            <a:chOff x="0" y="0"/>
            <a:chExt cx="2847898" cy="2522436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PRESENTATION</a:t>
              </a:r>
            </a:p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LAYER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046964"/>
              <a:ext cx="2847898" cy="1475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Tailwind CSS + JavaScript for responsive UI and async API calls.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362242" y="7642051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365660" y="6821991"/>
            <a:ext cx="2135924" cy="1891827"/>
            <a:chOff x="0" y="0"/>
            <a:chExt cx="2847898" cy="2522436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APPLICATION</a:t>
              </a:r>
            </a:p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LAYER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046964"/>
              <a:ext cx="2847898" cy="1475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Flask RESTful API managing routing and model prediction.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317478" y="4193807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573591" y="4239324"/>
            <a:ext cx="2135924" cy="2168052"/>
            <a:chOff x="0" y="0"/>
            <a:chExt cx="2847898" cy="2890736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&amp; MODEL</a:t>
              </a:r>
            </a:p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LAYER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046964"/>
              <a:ext cx="2847898" cy="1843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Pre-trained ML models + OpenStreetMap road network graph.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8508817" y="7642051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58302"/>
            <a:ext cx="1849954" cy="1789864"/>
            <a:chOff x="0" y="0"/>
            <a:chExt cx="2466605" cy="23864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86485"/>
              <a:chOff x="0" y="0"/>
              <a:chExt cx="787566" cy="76198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61984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61984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61984"/>
                    </a:lnTo>
                    <a:lnTo>
                      <a:pt x="0" y="7619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000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2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51"/>
                </a:lnSpc>
              </a:pPr>
              <a:r>
                <a:rPr lang="en-US" sz="6174" spc="-39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03560" y="1030775"/>
            <a:ext cx="40440" cy="1732806"/>
            <a:chOff x="0" y="0"/>
            <a:chExt cx="12543" cy="5374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03560" y="3220289"/>
            <a:ext cx="6563388" cy="360869"/>
            <a:chOff x="0" y="0"/>
            <a:chExt cx="8751183" cy="48115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46057"/>
              <a:ext cx="8507297" cy="435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53"/>
                </a:lnSpc>
              </a:pPr>
              <a:r>
                <a:rPr lang="en-US" sz="1895" b="1" spc="-47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TECHNICAL STACK POWERING THE PREDICTION SYSTEM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-8687136">
              <a:off x="8481990" y="38058"/>
              <a:ext cx="214153" cy="258866"/>
            </a:xfrm>
            <a:custGeom>
              <a:avLst/>
              <a:gdLst/>
              <a:ahLst/>
              <a:cxnLst/>
              <a:rect l="l" t="t" r="r" b="b"/>
              <a:pathLst>
                <a:path w="214153" h="258866">
                  <a:moveTo>
                    <a:pt x="0" y="0"/>
                  </a:moveTo>
                  <a:lnTo>
                    <a:pt x="214153" y="0"/>
                  </a:lnTo>
                  <a:lnTo>
                    <a:pt x="214153" y="258866"/>
                  </a:lnTo>
                  <a:lnTo>
                    <a:pt x="0" y="258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4564" y="1504251"/>
            <a:ext cx="6376039" cy="1593100"/>
            <a:chOff x="0" y="0"/>
            <a:chExt cx="2754311" cy="6881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64564" y="3400724"/>
            <a:ext cx="6376039" cy="1593100"/>
            <a:chOff x="0" y="0"/>
            <a:chExt cx="2754311" cy="6881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64564" y="5293177"/>
            <a:ext cx="6376039" cy="1593100"/>
            <a:chOff x="0" y="0"/>
            <a:chExt cx="2754311" cy="6881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64564" y="7189649"/>
            <a:ext cx="6376039" cy="1593100"/>
            <a:chOff x="0" y="0"/>
            <a:chExt cx="2754311" cy="6881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663445" y="3581158"/>
            <a:ext cx="8699578" cy="4676023"/>
          </a:xfrm>
          <a:custGeom>
            <a:avLst/>
            <a:gdLst/>
            <a:ahLst/>
            <a:cxnLst/>
            <a:rect l="l" t="t" r="r" b="b"/>
            <a:pathLst>
              <a:path w="8699578" h="4676023">
                <a:moveTo>
                  <a:pt x="0" y="0"/>
                </a:moveTo>
                <a:lnTo>
                  <a:pt x="8699578" y="0"/>
                </a:lnTo>
                <a:lnTo>
                  <a:pt x="8699578" y="4676024"/>
                </a:lnTo>
                <a:lnTo>
                  <a:pt x="0" y="4676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200956" y="8381007"/>
            <a:ext cx="9624555" cy="1395561"/>
          </a:xfrm>
          <a:custGeom>
            <a:avLst/>
            <a:gdLst/>
            <a:ahLst/>
            <a:cxnLst/>
            <a:rect l="l" t="t" r="r" b="b"/>
            <a:pathLst>
              <a:path w="9624555" h="1395561">
                <a:moveTo>
                  <a:pt x="0" y="0"/>
                </a:moveTo>
                <a:lnTo>
                  <a:pt x="9624556" y="0"/>
                </a:lnTo>
                <a:lnTo>
                  <a:pt x="9624556" y="1395560"/>
                </a:lnTo>
                <a:lnTo>
                  <a:pt x="0" y="1395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9184440" y="820829"/>
            <a:ext cx="4908339" cy="227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76"/>
              </a:lnSpc>
            </a:pPr>
            <a:r>
              <a:rPr lang="en-US" sz="5996" spc="-383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System Implementation Details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88087" y="1821243"/>
            <a:ext cx="5128994" cy="904893"/>
            <a:chOff x="0" y="0"/>
            <a:chExt cx="6838659" cy="1206524"/>
          </a:xfrm>
        </p:grpSpPr>
        <p:sp>
          <p:nvSpPr>
            <p:cNvPr id="29" name="TextBox 29"/>
            <p:cNvSpPr txBox="1"/>
            <p:nvPr/>
          </p:nvSpPr>
          <p:spPr>
            <a:xfrm>
              <a:off x="1589864" y="-76200"/>
              <a:ext cx="4202931" cy="499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97"/>
                </a:lnSpc>
              </a:pPr>
              <a:r>
                <a:rPr lang="en-US" sz="2103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 Environment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Google Colaboratory for cloud-based development and model training.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2571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88087" y="3734859"/>
            <a:ext cx="5128994" cy="905806"/>
            <a:chOff x="0" y="0"/>
            <a:chExt cx="6838659" cy="1207741"/>
          </a:xfrm>
        </p:grpSpPr>
        <p:sp>
          <p:nvSpPr>
            <p:cNvPr id="33" name="TextBox 33"/>
            <p:cNvSpPr txBox="1"/>
            <p:nvPr/>
          </p:nvSpPr>
          <p:spPr>
            <a:xfrm>
              <a:off x="1589864" y="-76200"/>
              <a:ext cx="4202931" cy="499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97"/>
                </a:lnSpc>
              </a:pPr>
              <a:r>
                <a:rPr lang="en-US" sz="2103" b="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Backend Stack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89864" y="534605"/>
              <a:ext cx="5248795" cy="673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98"/>
                </a:lnSpc>
              </a:pPr>
              <a:r>
                <a:rPr lang="en-US" sz="1498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Flask, Pandas, NumPy, OSMnx, NetworkX for API and geospatial processing.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89549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288087" y="5639303"/>
            <a:ext cx="5128994" cy="904893"/>
            <a:chOff x="0" y="0"/>
            <a:chExt cx="6838659" cy="1206524"/>
          </a:xfrm>
        </p:grpSpPr>
        <p:sp>
          <p:nvSpPr>
            <p:cNvPr id="37" name="TextBox 37"/>
            <p:cNvSpPr txBox="1"/>
            <p:nvPr/>
          </p:nvSpPr>
          <p:spPr>
            <a:xfrm>
              <a:off x="1589864" y="-76200"/>
              <a:ext cx="4202931" cy="499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97"/>
                </a:lnSpc>
              </a:pPr>
              <a:r>
                <a:rPr lang="en-US" sz="2103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ML Integration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Serialized models via joblib enabling real-time inference capabilities.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231775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288087" y="7532526"/>
            <a:ext cx="5128994" cy="904893"/>
            <a:chOff x="0" y="0"/>
            <a:chExt cx="6838659" cy="1206524"/>
          </a:xfrm>
        </p:grpSpPr>
        <p:sp>
          <p:nvSpPr>
            <p:cNvPr id="41" name="TextBox 41"/>
            <p:cNvSpPr txBox="1"/>
            <p:nvPr/>
          </p:nvSpPr>
          <p:spPr>
            <a:xfrm>
              <a:off x="1589864" y="-76200"/>
              <a:ext cx="4202931" cy="499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97"/>
                </a:lnSpc>
              </a:pPr>
              <a:r>
                <a:rPr lang="en-US" sz="2103" b="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Frontend Design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89864" y="534605"/>
              <a:ext cx="5248795" cy="671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85"/>
                </a:lnSpc>
              </a:pPr>
              <a:r>
                <a:rPr lang="en-US" sz="148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Tailwind CSS responsive UI with JavaScript async API calls.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195609"/>
              <a:ext cx="1165955" cy="931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42"/>
                </a:lnSpc>
              </a:pPr>
              <a:r>
                <a:rPr lang="en-US" sz="5158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7048" y="2029141"/>
            <a:ext cx="5939453" cy="116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29"/>
              </a:lnSpc>
            </a:pPr>
            <a:r>
              <a:rPr lang="en-US" sz="8907" spc="-57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Final 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7048" y="4244957"/>
            <a:ext cx="6511089" cy="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MAIN SYSTEM OUTCOMES AND UI FEATURES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911045" y="2589979"/>
            <a:ext cx="8956877" cy="6605697"/>
          </a:xfrm>
          <a:custGeom>
            <a:avLst/>
            <a:gdLst/>
            <a:ahLst/>
            <a:cxnLst/>
            <a:rect l="l" t="t" r="r" b="b"/>
            <a:pathLst>
              <a:path w="8956877" h="6605697">
                <a:moveTo>
                  <a:pt x="0" y="0"/>
                </a:moveTo>
                <a:lnTo>
                  <a:pt x="8956877" y="0"/>
                </a:lnTo>
                <a:lnTo>
                  <a:pt x="8956877" y="6605697"/>
                </a:lnTo>
                <a:lnTo>
                  <a:pt x="0" y="660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70201" y="5206429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User-friendly interface that supporting both GPS coordinates and place names.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0201" y="6197721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Displays predicted trip time, distance, direction, and interactive map.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0201" y="7189012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Supports both driving and public transport route options.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8180304"/>
            <a:ext cx="7273799" cy="8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1"/>
              </a:lnSpc>
            </a:pPr>
            <a:r>
              <a:rPr lang="en-US" sz="2265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Heatmaps and marker maps reveal trip distribution hotspots.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8376909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92056" y="1525863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92056" y="4450814"/>
            <a:ext cx="7106119" cy="40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7"/>
              </a:lnSpc>
            </a:pPr>
            <a:r>
              <a:rPr lang="en-US" sz="2269" b="1" spc="-5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PLANNED SYSTEM ENHANCEMENTS AND NEXT STEPS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38046" y="36375"/>
            <a:ext cx="1849954" cy="1811791"/>
            <a:chOff x="0" y="0"/>
            <a:chExt cx="2466605" cy="241572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15721"/>
              <a:chOff x="0" y="0"/>
              <a:chExt cx="787566" cy="77131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71319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71319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71319"/>
                    </a:lnTo>
                    <a:lnTo>
                      <a:pt x="0" y="77131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09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49"/>
              <a:ext cx="1828278" cy="1151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152"/>
                </a:lnSpc>
              </a:pPr>
              <a:r>
                <a:rPr lang="en-US" sz="6277" spc="-40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13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-102788"/>
            <a:ext cx="8311081" cy="10389788"/>
          </a:xfrm>
          <a:custGeom>
            <a:avLst/>
            <a:gdLst/>
            <a:ahLst/>
            <a:cxnLst/>
            <a:rect l="l" t="t" r="r" b="b"/>
            <a:pathLst>
              <a:path w="8311081" h="10389788">
                <a:moveTo>
                  <a:pt x="0" y="0"/>
                </a:moveTo>
                <a:lnTo>
                  <a:pt x="8311081" y="0"/>
                </a:lnTo>
                <a:lnTo>
                  <a:pt x="8311081" y="10389788"/>
                </a:lnTo>
                <a:lnTo>
                  <a:pt x="0" y="1038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71" r="-16784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746312" y="5274096"/>
            <a:ext cx="1211966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1199" spc="-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DEVELOPMENT ROADMAP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5941" y="2578941"/>
            <a:ext cx="6878053" cy="1276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Future 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2056" y="5850495"/>
            <a:ext cx="8369522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Future iterations will focus on Hong Kong-specific adaptations and real-time capabilities.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2056" y="7463823"/>
            <a:ext cx="8369522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Integrate real-time HK taxi pick-up/drop-off API data</a:t>
            </a:r>
          </a:p>
          <a:p>
            <a:pPr marL="0" lvl="0" indent="0" algn="just">
              <a:lnSpc>
                <a:spcPts val="3079"/>
              </a:lnSpc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Adapt to HK's multi-layer road network and altitude (Z-axis)</a:t>
            </a:r>
          </a:p>
          <a:p>
            <a:pPr marL="0" lvl="0" indent="0" algn="just">
              <a:lnSpc>
                <a:spcPts val="3079"/>
              </a:lnSpc>
            </a:pPr>
            <a:r>
              <a:rPr lang="en-US" sz="219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Enable real-time ETA updates and notifications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92056" y="1525863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6352295" cy="10287000"/>
            <a:chOff x="0" y="0"/>
            <a:chExt cx="984137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4137" cy="1593725"/>
            </a:xfrm>
            <a:custGeom>
              <a:avLst/>
              <a:gdLst/>
              <a:ahLst/>
              <a:cxnLst/>
              <a:rect l="l" t="t" r="r" b="b"/>
              <a:pathLst>
                <a:path w="984137" h="1593725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554" r="-455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6438046" y="210896"/>
            <a:ext cx="1849954" cy="1637270"/>
            <a:chOff x="0" y="0"/>
            <a:chExt cx="2466605" cy="218302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183027"/>
              <a:chOff x="0" y="0"/>
              <a:chExt cx="787566" cy="69702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697022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7022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7022"/>
                    </a:lnTo>
                    <a:lnTo>
                      <a:pt x="0" y="69702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7351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65474"/>
              <a:ext cx="1828278" cy="947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42"/>
                </a:lnSpc>
              </a:pPr>
              <a:r>
                <a:rPr lang="en-US" sz="5145" spc="-32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14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5177017" y="5870652"/>
            <a:ext cx="2350556" cy="457290"/>
          </a:xfrm>
          <a:custGeom>
            <a:avLst/>
            <a:gdLst/>
            <a:ahLst/>
            <a:cxnLst/>
            <a:rect l="l" t="t" r="r" b="b"/>
            <a:pathLst>
              <a:path w="2350556" h="457290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720122" y="1441758"/>
            <a:ext cx="6341860" cy="245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5"/>
              </a:lnSpc>
            </a:pPr>
            <a:r>
              <a:rPr lang="en-US" sz="9638" spc="-61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&amp; Solutions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2056" y="4751127"/>
            <a:ext cx="7325824" cy="94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Key technical challenges were addressed through strategic adoption of open-source tools and hybrid algorithmic approaches to ensure accuracy and usability.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39681" y="7195541"/>
            <a:ext cx="9171627" cy="157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Haversine ignores building and transport system → OpenStreetMap + Dijkstra</a:t>
            </a:r>
          </a:p>
          <a:p>
            <a:pPr marL="0" lvl="0" indent="0" algn="just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Flask UI limits → Internal CSS + Tailwind CSS</a:t>
            </a:r>
          </a:p>
          <a:p>
            <a:pPr marL="0" lvl="0" indent="0" algn="just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Hardcore Google Maps API → Open-source OpenStreetMap</a:t>
            </a:r>
          </a:p>
          <a:p>
            <a:pPr marL="0" lvl="0" indent="0" algn="just">
              <a:lnSpc>
                <a:spcPts val="2486"/>
              </a:lnSpc>
            </a:pPr>
            <a:r>
              <a:rPr lang="en-US" sz="175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Factors → </a:t>
            </a:r>
            <a:r>
              <a:rPr lang="en-US" sz="175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Analyze</a:t>
            </a:r>
            <a:r>
              <a:rPr lang="en-US" sz="175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average trip time by days of week and hours of day</a:t>
            </a:r>
            <a:endParaRPr lang="en-US" sz="1750" spc="-5" dirty="0">
              <a:solidFill>
                <a:srgbClr val="3A58E4"/>
              </a:solidFill>
              <a:latin typeface="Poppins"/>
              <a:ea typeface="Poppins"/>
              <a:cs typeface="Poppins"/>
            </a:endParaRPr>
          </a:p>
          <a:p>
            <a:pPr marL="0" lvl="0" indent="0" algn="just">
              <a:lnSpc>
                <a:spcPts val="2486"/>
              </a:lnSpc>
            </a:pPr>
            <a:r>
              <a:rPr lang="en-US" sz="177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 missing → Machine Learning model(Linear Regression or Random Forest)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400544"/>
            <a:ext cx="1723707" cy="7857756"/>
            <a:chOff x="0" y="0"/>
            <a:chExt cx="2298277" cy="10477009"/>
          </a:xfrm>
        </p:grpSpPr>
        <p:sp>
          <p:nvSpPr>
            <p:cNvPr id="6" name="Freeform 6"/>
            <p:cNvSpPr/>
            <p:nvPr/>
          </p:nvSpPr>
          <p:spPr>
            <a:xfrm>
              <a:off x="651979" y="82348"/>
              <a:ext cx="981294" cy="782699"/>
            </a:xfrm>
            <a:custGeom>
              <a:avLst/>
              <a:gdLst/>
              <a:ahLst/>
              <a:cxnLst/>
              <a:rect l="l" t="t" r="r" b="b"/>
              <a:pathLst>
                <a:path w="981294" h="782699">
                  <a:moveTo>
                    <a:pt x="0" y="0"/>
                  </a:moveTo>
                  <a:lnTo>
                    <a:pt x="981294" y="0"/>
                  </a:lnTo>
                  <a:lnTo>
                    <a:pt x="981294" y="782699"/>
                  </a:lnTo>
                  <a:lnTo>
                    <a:pt x="0" y="782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1263035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r>
                <a:rPr lang="en-US" sz="213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Taxi Trip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90943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r>
                <a:rPr lang="en-US" sz="2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Prediction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630718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10058626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r>
                <a:rPr lang="en-US" sz="2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Q&amp;A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7308293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7988737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8700" y="8673002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638585" y="7334015"/>
            <a:ext cx="2891575" cy="38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Lam Sau Cheung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38585" y="8001598"/>
            <a:ext cx="5248389" cy="38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Information 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8585" y="8698724"/>
            <a:ext cx="4805157" cy="38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24030401D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316167"/>
            <a:ext cx="6671890" cy="218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Demostration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Q &amp; 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462305"/>
            <a:ext cx="1723707" cy="7795995"/>
            <a:chOff x="0" y="0"/>
            <a:chExt cx="2298277" cy="10394661"/>
          </a:xfrm>
        </p:grpSpPr>
        <p:sp>
          <p:nvSpPr>
            <p:cNvPr id="6" name="Freeform 6"/>
            <p:cNvSpPr/>
            <p:nvPr/>
          </p:nvSpPr>
          <p:spPr>
            <a:xfrm>
              <a:off x="651979" y="0"/>
              <a:ext cx="981294" cy="782699"/>
            </a:xfrm>
            <a:custGeom>
              <a:avLst/>
              <a:gdLst/>
              <a:ahLst/>
              <a:cxnLst/>
              <a:rect l="l" t="t" r="r" b="b"/>
              <a:pathLst>
                <a:path w="981294" h="782699">
                  <a:moveTo>
                    <a:pt x="0" y="0"/>
                  </a:moveTo>
                  <a:lnTo>
                    <a:pt x="981294" y="0"/>
                  </a:lnTo>
                  <a:lnTo>
                    <a:pt x="981294" y="782699"/>
                  </a:lnTo>
                  <a:lnTo>
                    <a:pt x="0" y="782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1180687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r>
                <a:rPr lang="en-US" sz="213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Taxi Trip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08595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r>
                <a:rPr lang="en-US" sz="21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Prediction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548370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9976278"/>
              <a:ext cx="2272228" cy="418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8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28700" y="2964137"/>
            <a:ext cx="12331425" cy="447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[1]H. Leung, “Hong Kong’s taxi industry at a turning point: Can new regulations bring free-wheeling sector back on track?,” </a:t>
            </a:r>
            <a:r>
              <a:rPr lang="en-US" sz="2599" i="1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Italics"/>
                <a:ea typeface="Poppins Italics"/>
                <a:cs typeface="Poppins Italics"/>
                <a:sym typeface="Poppins Italics"/>
              </a:rPr>
              <a:t>Hong Kong Free Press HKFP</a:t>
            </a: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, Dec. 29, 2024. [image].Available: https://hongkongfp.com/2024/12/29/hong-kong-taxi-drivers-refusing-fares-dirty-cabs-rudeness-and-overcharging-will-new-rules-fix-industry/[Accessed April 7, 2026] </a:t>
            </a:r>
          </a:p>
          <a:p>
            <a:pPr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[2]R. Ying, "Taxi license holders shouldn't be bailed out with taxpayers' money," </a:t>
            </a:r>
            <a:r>
              <a:rPr lang="en-US" sz="2599" i="1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Italics"/>
                <a:ea typeface="Poppins Italics"/>
                <a:cs typeface="Poppins Italics"/>
                <a:sym typeface="Poppins Italics"/>
              </a:rPr>
              <a:t>Chinadailyhk</a:t>
            </a: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. Jun. 19, 2025.[Online]. Available: https://www.chinadailyhk.com/hk/article/614262.[Accessed Sept 7, 2026]</a:t>
            </a:r>
          </a:p>
          <a:p>
            <a:pPr marL="0" lvl="0" indent="0" algn="l">
              <a:lnSpc>
                <a:spcPts val="2963"/>
              </a:lnSpc>
            </a:pP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[3]Y. Liang, J. You, R. Wang, B. Qin, and S. Han, "</a:t>
            </a:r>
            <a:r>
              <a:rPr lang="en-US" sz="2599" i="1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Italics"/>
                <a:ea typeface="Poppins Italics"/>
                <a:cs typeface="Poppins Italics"/>
                <a:sym typeface="Poppins Italics"/>
              </a:rPr>
              <a:t>Urban Transportation Data Research Overview: A Bibliometric Analysis Based on CiteSpace</a:t>
            </a: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," Sustainability, vol. 16, no. 22, pp. 9615–9615, Nov. 2024.[image]. Available: </a:t>
            </a:r>
            <a:r>
              <a:rPr lang="en-US" sz="2599" u="sng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  <a:hlinkClick r:id="rId3" tooltip="https://doi.org/10.3390/su16229615"/>
              </a:rPr>
              <a:t>https://doi.org/10.3390/</a:t>
            </a:r>
            <a:r>
              <a:rPr lang="en-US" sz="2599" spc="-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su16229615.[Accessed April 7, 2026]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自訂</PresentationFormat>
  <Slides>21</Slides>
  <Notes>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Presentation_24030401D_Lam Sau Cheung</dc:title>
  <cp:revision>162</cp:revision>
  <dcterms:created xsi:type="dcterms:W3CDTF">2006-08-16T00:00:00Z</dcterms:created>
  <dcterms:modified xsi:type="dcterms:W3CDTF">2026-04-10T09:56:04Z</dcterms:modified>
  <dc:identifier>DAHF47dlZ_Q</dc:identifier>
</cp:coreProperties>
</file>